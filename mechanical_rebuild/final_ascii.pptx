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ebfbaff39e44b8" /><Relationship Type="http://schemas.openxmlformats.org/officeDocument/2006/relationships/extended-properties" Target="/docProps/app.xml" Id="Rf2418b213b3d4caa" /><Relationship Type="http://schemas.openxmlformats.org/officeDocument/2006/relationships/officeDocument" Target="/ppt/presentation.xml" Id="R1a8105544ec0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cc9939001e471d"/>
  </p:sldMasterIdLst>
  <p:notesMasterIdLst>
    <p:notesMasterId xmlns:r="http://schemas.openxmlformats.org/officeDocument/2006/relationships" r:id="R4ac3589b4dc543ec"/>
  </p:notesMasterIdLst>
  <p:sldIdLst>
    <p:sldId xmlns:r="http://schemas.openxmlformats.org/officeDocument/2006/relationships" id="256" r:id="R246e410911c94284"/>
    <p:sldId xmlns:r="http://schemas.openxmlformats.org/officeDocument/2006/relationships" id="257" r:id="Rc7518897da6945b2"/>
    <p:sldId xmlns:r="http://schemas.openxmlformats.org/officeDocument/2006/relationships" id="258" r:id="Rd5cadddb98104de6"/>
    <p:sldId xmlns:r="http://schemas.openxmlformats.org/officeDocument/2006/relationships" id="259" r:id="Rb1ceb88ba60540c5"/>
    <p:sldId xmlns:r="http://schemas.openxmlformats.org/officeDocument/2006/relationships" id="260" r:id="Rdec5ca86ffcd44fb"/>
    <p:sldId xmlns:r="http://schemas.openxmlformats.org/officeDocument/2006/relationships" id="261" r:id="Rc3f73c757396470d"/>
    <p:sldId xmlns:r="http://schemas.openxmlformats.org/officeDocument/2006/relationships" id="262" r:id="R4051a4c19e654e43"/>
    <p:sldId xmlns:r="http://schemas.openxmlformats.org/officeDocument/2006/relationships" id="263" r:id="Rda53892f8bac434d"/>
    <p:sldId xmlns:r="http://schemas.openxmlformats.org/officeDocument/2006/relationships" id="264" r:id="R0e70dfc0a40348b3"/>
    <p:sldId xmlns:r="http://schemas.openxmlformats.org/officeDocument/2006/relationships" id="265" r:id="Rc20399ed25954051"/>
    <p:sldId xmlns:r="http://schemas.openxmlformats.org/officeDocument/2006/relationships" id="266" r:id="Ra2c0b929b87843e4"/>
    <p:sldId xmlns:r="http://schemas.openxmlformats.org/officeDocument/2006/relationships" id="267" r:id="Ra901b275f33b4f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5ca691c62d4967" /><Relationship Type="http://schemas.openxmlformats.org/officeDocument/2006/relationships/slideMaster" Target="/ppt/slideMasters/slideMaster1.xml" Id="R4acc9939001e471d" /><Relationship Type="http://schemas.openxmlformats.org/officeDocument/2006/relationships/notesMaster" Target="/ppt/notesMasters/notesMaster1.xml" Id="R4ac3589b4dc543ec" /><Relationship Type="http://schemas.openxmlformats.org/officeDocument/2006/relationships/presProps" Target="/ppt/presProps.xml" Id="R91e74d308d044c62" /><Relationship Type="http://schemas.openxmlformats.org/officeDocument/2006/relationships/tableStyles" Target="/ppt/tableStyles.xml" Id="R5e60c957b8cd49c3" /><Relationship Type="http://schemas.openxmlformats.org/officeDocument/2006/relationships/slide" Target="/ppt/slides/slide1.xml" Id="R246e410911c94284" /><Relationship Type="http://schemas.openxmlformats.org/officeDocument/2006/relationships/slide" Target="/ppt/slides/slide2.xml" Id="Rc7518897da6945b2" /><Relationship Type="http://schemas.openxmlformats.org/officeDocument/2006/relationships/slide" Target="/ppt/slides/slide3.xml" Id="Rd5cadddb98104de6" /><Relationship Type="http://schemas.openxmlformats.org/officeDocument/2006/relationships/slide" Target="/ppt/slides/slide4.xml" Id="Rb1ceb88ba60540c5" /><Relationship Type="http://schemas.openxmlformats.org/officeDocument/2006/relationships/slide" Target="/ppt/slides/slide5.xml" Id="Rdec5ca86ffcd44fb" /><Relationship Type="http://schemas.openxmlformats.org/officeDocument/2006/relationships/slide" Target="/ppt/slides/slide6.xml" Id="Rc3f73c757396470d" /><Relationship Type="http://schemas.openxmlformats.org/officeDocument/2006/relationships/slide" Target="/ppt/slides/slide7.xml" Id="R4051a4c19e654e43" /><Relationship Type="http://schemas.openxmlformats.org/officeDocument/2006/relationships/slide" Target="/ppt/slides/slide8.xml" Id="Rda53892f8bac434d" /><Relationship Type="http://schemas.openxmlformats.org/officeDocument/2006/relationships/slide" Target="/ppt/slides/slide9.xml" Id="R0e70dfc0a40348b3" /><Relationship Type="http://schemas.openxmlformats.org/officeDocument/2006/relationships/slide" Target="/ppt/slides/slide10.xml" Id="Rc20399ed25954051" /><Relationship Type="http://schemas.openxmlformats.org/officeDocument/2006/relationships/slide" Target="/ppt/slides/slide11.xml" Id="Ra2c0b929b87843e4" /><Relationship Type="http://schemas.openxmlformats.org/officeDocument/2006/relationships/slide" Target="/ppt/slides/slide12.xml" Id="Ra901b275f33b4f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cea23758d345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d371cfb7074d9f" /><Relationship Type="http://schemas.openxmlformats.org/officeDocument/2006/relationships/notesMaster" Target="/ppt/notesMasters/notesMaster1.xml" Id="R4062469fd7d242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bd25846a44dbb" /><Relationship Type="http://schemas.openxmlformats.org/officeDocument/2006/relationships/notesMaster" Target="/ppt/notesMasters/notesMaster1.xml" Id="R0b47fc30704348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0a8959d6b14149" /><Relationship Type="http://schemas.openxmlformats.org/officeDocument/2006/relationships/notesMaster" Target="/ppt/notesMasters/notesMaster1.xml" Id="Rc59f35060ad140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62f4fd03c547c4" /><Relationship Type="http://schemas.openxmlformats.org/officeDocument/2006/relationships/notesMaster" Target="/ppt/notesMasters/notesMaster1.xml" Id="R35d76f2d726e40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5f7a5373374f6a" /><Relationship Type="http://schemas.openxmlformats.org/officeDocument/2006/relationships/notesMaster" Target="/ppt/notesMasters/notesMaster1.xml" Id="R88f14e262c5848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91e1a969964145" /><Relationship Type="http://schemas.openxmlformats.org/officeDocument/2006/relationships/notesMaster" Target="/ppt/notesMasters/notesMaster1.xml" Id="R5c55498f857f4d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0191d3c2114c0a" /><Relationship Type="http://schemas.openxmlformats.org/officeDocument/2006/relationships/notesMaster" Target="/ppt/notesMasters/notesMaster1.xml" Id="R0e2b1b3edf9049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51b5964f6e4977" /><Relationship Type="http://schemas.openxmlformats.org/officeDocument/2006/relationships/notesMaster" Target="/ppt/notesMasters/notesMaster1.xml" Id="Re09bb3b3685f4b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037e41f2d147cb" /><Relationship Type="http://schemas.openxmlformats.org/officeDocument/2006/relationships/notesMaster" Target="/ppt/notesMasters/notesMaster1.xml" Id="R635f15bb21c142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daa454a55144c8" /><Relationship Type="http://schemas.openxmlformats.org/officeDocument/2006/relationships/notesMaster" Target="/ppt/notesMasters/notesMaster1.xml" Id="R2f1dc2807c7248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83057ba5ea4bd3" /><Relationship Type="http://schemas.openxmlformats.org/officeDocument/2006/relationships/notesMaster" Target="/ppt/notesMasters/notesMaster1.xml" Id="R6d768254a12a41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cada21d3f949fe" /><Relationship Type="http://schemas.openxmlformats.org/officeDocument/2006/relationships/notesMaster" Target="/ppt/notesMasters/notesMaster1.xml" Id="Rbe10cc5b6d6347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封面沿用机械行业模板的金属背景和大型机械部件构图。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Background extracted from user-provided 机械行业.pptx.</a:t>
            </a:r>
          </a:p>
          <a:p xmlns:a="http://schemas.openxmlformats.org/drawingml/2006/main">
            <a:r>
              <a:t>- OpenAI-generated hero-button.png, 2026-09-06.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说明形态语义的范围，后面四个案例都用这一概念分析。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四个问题用于统一比较不同产品，不依赖具体品类。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四类按操作信息分类，保留原汇报的四个产品案例。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course-report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按形态细节、传递信息和用户动作进行分析。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Retained case image from prior deck: door.png.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按形态细节、传递信息和用户动作进行分析。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Retained case image from prior deck: kettle.png.</a:t>
            </a:r>
          </a:p>
          <a:p xmlns:a="http://schemas.openxmlformats.org/drawingml/2006/main">
            <a:r>
              <a:t>- Original visual analysis of a generic everyday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按形态细节、传递信息和用户动作进行分析。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Retained case image from prior deck: knob.png.</a:t>
            </a:r>
          </a:p>
          <a:p xmlns:a="http://schemas.openxmlformats.org/drawingml/2006/main">
            <a:r>
              <a:t>- Original visual analysis of a generic rotary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按形态细节、传递信息和用户动作进行分析。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Retained case image from prior deck: emergency.png.</a:t>
            </a:r>
          </a:p>
          <a:p xmlns:a="http://schemas.openxmlformats.org/drawingml/2006/main">
            <a:r>
              <a:t>- ISO 3864-1:2011: https://www.iso.org/standard/51021.html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表格对比四类产品的形态线索、映射和约束。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IEC/ISO symbols general description: https://webstore.iec.ch/en/iec_catalog/product/preview/?id=L3B1Yi9wZGYvcHJldmlldy9pbmZvX2llYzYwNDE3e2VkMS4wfWIucGRm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通过常见错误说明形态和操作不一致时会产生误用。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四个步骤可用于后续产品方案分析和形态推敲。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结尾概括四个案例的共同设计原则。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OpenAI-generated hero-button.png, 2026-09-06.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  <a:p xmlns:a="http://schemas.openxmlformats.org/drawingml/2006/main">
            <a:r>
              <a:t>- ISO 3864-1:2011: https://www.iso.org/standard/51021.html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6f47f967748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ddd8f8685846c6" /><Relationship Type="http://schemas.openxmlformats.org/officeDocument/2006/relationships/slideLayout" Target="/ppt/slideLayouts/slideLayout1.xml" Id="Re345c43876aa41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45c43876aa41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984d5eb334829" /><Relationship Type="http://schemas.openxmlformats.org/officeDocument/2006/relationships/image" Target="/ppt/media/image.jpeg" Id="Rb7d7c1d7b16b4c9b" /><Relationship Type="http://schemas.openxmlformats.org/officeDocument/2006/relationships/image" Target="/ppt/media/image.png" Id="R543a1f38dbe44e63" /><Relationship Type="http://schemas.openxmlformats.org/officeDocument/2006/relationships/notesSlide" Target="/ppt/notesSlides/notesSlide1.xml" Id="R9ec0877a8ca1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45512931c4a39" /><Relationship Type="http://schemas.openxmlformats.org/officeDocument/2006/relationships/image" Target="/ppt/media/image2.jpeg" Id="R4081006ccbf04562" /><Relationship Type="http://schemas.openxmlformats.org/officeDocument/2006/relationships/notesSlide" Target="/ppt/notesSlides/notesSlide2.xml" Id="Raea6e30f37f145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e31b65a9d41d7" /><Relationship Type="http://schemas.openxmlformats.org/officeDocument/2006/relationships/image" Target="/ppt/media/image3.jpeg" Id="R16b6ea78b1044b17" /><Relationship Type="http://schemas.openxmlformats.org/officeDocument/2006/relationships/notesSlide" Target="/ppt/notesSlides/notesSlide3.xml" Id="R52183b1d63fa42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f2a1a34a74fc2" /><Relationship Type="http://schemas.openxmlformats.org/officeDocument/2006/relationships/image" Target="/ppt/media/image4.jpeg" Id="Rcbaf8b87ddfe40d1" /><Relationship Type="http://schemas.openxmlformats.org/officeDocument/2006/relationships/notesSlide" Target="/ppt/notesSlides/notesSlide4.xml" Id="Rd6bd7e6cf8b641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374e61ffd4fb8" /><Relationship Type="http://schemas.openxmlformats.org/officeDocument/2006/relationships/image" Target="/ppt/media/image5.jpeg" Id="R31f9567561bb44d8" /><Relationship Type="http://schemas.openxmlformats.org/officeDocument/2006/relationships/image" Target="/ppt/media/image2.png" Id="R233a96a6238d446d" /><Relationship Type="http://schemas.openxmlformats.org/officeDocument/2006/relationships/notesSlide" Target="/ppt/notesSlides/notesSlide5.xml" Id="R5cd7d54709ed42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17961c0134850" /><Relationship Type="http://schemas.openxmlformats.org/officeDocument/2006/relationships/image" Target="/ppt/media/image6.jpeg" Id="R7775f28b80de4ea1" /><Relationship Type="http://schemas.openxmlformats.org/officeDocument/2006/relationships/image" Target="/ppt/media/image3.png" Id="Ra00d41df738c41f4" /><Relationship Type="http://schemas.openxmlformats.org/officeDocument/2006/relationships/notesSlide" Target="/ppt/notesSlides/notesSlide6.xml" Id="R2bb4a08341e34f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c8f97e00c404a" /><Relationship Type="http://schemas.openxmlformats.org/officeDocument/2006/relationships/image" Target="/ppt/media/image7.jpeg" Id="R228734c26bfa4e13" /><Relationship Type="http://schemas.openxmlformats.org/officeDocument/2006/relationships/image" Target="/ppt/media/image4.png" Id="R27da76c8fc544045" /><Relationship Type="http://schemas.openxmlformats.org/officeDocument/2006/relationships/notesSlide" Target="/ppt/notesSlides/notesSlide7.xml" Id="R2f8a8711f9a740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3b98d6680474f" /><Relationship Type="http://schemas.openxmlformats.org/officeDocument/2006/relationships/image" Target="/ppt/media/image8.jpeg" Id="Re39404b9ca3142f2" /><Relationship Type="http://schemas.openxmlformats.org/officeDocument/2006/relationships/image" Target="/ppt/media/image5.png" Id="R9a2ad1f4deb74dce" /><Relationship Type="http://schemas.openxmlformats.org/officeDocument/2006/relationships/notesSlide" Target="/ppt/notesSlides/notesSlide8.xml" Id="R59364cf7d20947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7ae4a54a84f22" /><Relationship Type="http://schemas.openxmlformats.org/officeDocument/2006/relationships/image" Target="/ppt/media/image9.jpeg" Id="R4d4e4ab43db745b6" /><Relationship Type="http://schemas.openxmlformats.org/officeDocument/2006/relationships/notesSlide" Target="/ppt/notesSlides/notesSlide9.xml" Id="R99385082a08943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5b5c053c5426c" /><Relationship Type="http://schemas.openxmlformats.org/officeDocument/2006/relationships/image" Target="/ppt/media/image10.jpeg" Id="Reb06fc5e72384b45" /><Relationship Type="http://schemas.openxmlformats.org/officeDocument/2006/relationships/notesSlide" Target="/ppt/notesSlides/notesSlide10.xml" Id="R9752405690a746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a3cf1d70e4732" /><Relationship Type="http://schemas.openxmlformats.org/officeDocument/2006/relationships/image" Target="/ppt/media/image11.jpeg" Id="Rdc5bed7e7a944af6" /><Relationship Type="http://schemas.openxmlformats.org/officeDocument/2006/relationships/notesSlide" Target="/ppt/notesSlides/notesSlide11.xml" Id="Rdd2659f8b41d4a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2434822c74b30" /><Relationship Type="http://schemas.openxmlformats.org/officeDocument/2006/relationships/image" Target="/ppt/media/image12.jpeg" Id="R99bac49564e24dfe" /><Relationship Type="http://schemas.openxmlformats.org/officeDocument/2006/relationships/image" Target="/ppt/media/image6.png" Id="R986aae4fb9fe45d5" /><Relationship Type="http://schemas.openxmlformats.org/officeDocument/2006/relationships/notesSlide" Target="/ppt/notesSlides/notesSlide12.xml" Id="Rd559a6dd5bd340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7c1d7b16b4c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en">
            <a:extLst xmlns:a="http://schemas.openxmlformats.org/drawingml/2006/main">
              <a:ext uri="{FF2B5EF4-FFF2-40B4-BE49-F238E27FC236}">
                <a16:creationId xmlns:a16="http://schemas.microsoft.com/office/drawing/2014/main" id="{F279C049-9867-4E9E-B282-3E0694E9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PRODUCT FORM SEMANTICS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7FE85BA-2F36-4A43-A12D-AFBE9D8D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产品形态语义设计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901178C-0756-4AC1-9211-A048CC61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四类日常产品案例分析</a:t>
            </a:r>
          </a:p>
        </p:txBody>
      </p:sp>
      <p:cxnSp>
        <p:nvCxnSpPr>
          <p:cNvPr id="12" name="line"/>
          <p:cNvCxnSpPr/>
          <p:nvPr/>
        </p:nvCxnSpPr>
        <p:spPr>
          <a:xfrm xmlns:a="http://schemas.openxmlformats.org/drawingml/2006/main">
            <a:off x="685800" y="36385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195A2"/>
            </a:solidFill>
            <a:prstDash val="solid"/>
          </a:ln>
        </p:spPr>
      </p:cxnSp>
      <p:sp>
        <p:nvSpPr>
          <p:cNvPr id="6" name="cover-info">
            <a:extLst xmlns:a="http://schemas.openxmlformats.org/drawingml/2006/main">
              <a:ext uri="{FF2B5EF4-FFF2-40B4-BE49-F238E27FC236}">
                <a16:creationId xmlns:a16="http://schemas.microsoft.com/office/drawing/2014/main" id="{54E2BAFF-F1B6-451E-AA89-0C644509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课程汇报    汇报人：________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a1f38dbe44e63"/>
          <a:stretch xmlns:a="http://schemas.openxmlformats.org/drawingml/2006/main"/>
        </p:blipFill>
        <p:spPr>
          <a:xfrm xmlns:a="http://schemas.openxmlformats.org/drawingml/2006/main">
            <a:off x="7239000" y="795130"/>
            <a:ext cx="4857750" cy="55534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805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1006ccbf045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1">
            <a:extLst xmlns:a="http://schemas.openxmlformats.org/drawingml/2006/main">
              <a:ext uri="{FF2B5EF4-FFF2-40B4-BE49-F238E27FC236}">
                <a16:creationId xmlns:a16="http://schemas.microsoft.com/office/drawing/2014/main" id="{9DCDB896-6AA1-4CA7-8D38-FC73C614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04C6301A-AB98-4D91-AAEC-ACB7B671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形态语义是什么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EFA12716-09FE-4E31-953D-1B66ED52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基本概念</a:t>
            </a:r>
          </a:p>
        </p:txBody>
      </p:sp>
      <p:cxnSp>
        <p:nvCxnSpPr>
          <p:cNvPr id="25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sp>
        <p:nvSpPr>
          <p:cNvPr id="6" name="watermark">
            <a:extLst xmlns:a="http://schemas.openxmlformats.org/drawingml/2006/main">
              <a:ext uri="{FF2B5EF4-FFF2-40B4-BE49-F238E27FC236}">
                <a16:creationId xmlns:a16="http://schemas.microsoft.com/office/drawing/2014/main" id="{4BED7C98-5AF4-420A-9B42-A08E7D9E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C4C9CC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C4C9CC"/>
                </a:solidFill>
                <a:latin typeface="微软雅黑"/>
                <a:ea typeface="微软雅黑"/>
                <a:cs typeface="微软雅黑"/>
              </a:rPr>
              <a:t>FORM</a:t>
            </a:r>
          </a:p>
          <a:p xmlns:a="http://schemas.openxmlformats.org/drawingml/2006/main">
            <a:pPr algn="l">
              <a:defRPr sz="4650" b="1">
                <a:solidFill>
                  <a:srgbClr val="C4C9CC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C4C9CC"/>
                </a:solidFill>
                <a:latin typeface="微软雅黑"/>
                <a:ea typeface="微软雅黑"/>
                <a:cs typeface="微软雅黑"/>
              </a:rPr>
              <a:t>SEMANTICS</a:t>
            </a:r>
          </a:p>
        </p:txBody>
      </p:sp>
      <p:sp>
        <p:nvSpPr>
          <p:cNvPr id="7" name="definition">
            <a:extLst xmlns:a="http://schemas.openxmlformats.org/drawingml/2006/main">
              <a:ext uri="{FF2B5EF4-FFF2-40B4-BE49-F238E27FC236}">
                <a16:creationId xmlns:a16="http://schemas.microsoft.com/office/drawing/2014/main" id="{206E4C0C-132D-4222-BEB6-89FBA194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95400"/>
            <a:ext cx="6572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产品的外观和结构会传出使用信息。用户看到轮廓、接触位置和材质后，会判断哪里能操作、应该怎样操作，以及是否存在风险。</a:t>
            </a:r>
          </a:p>
        </p:txBody>
      </p:sp>
      <p:sp>
        <p:nvSpPr>
          <p:cNvPr id="8" name="def-num-0">
            <a:extLst xmlns:a="http://schemas.openxmlformats.org/drawingml/2006/main">
              <a:ext uri="{FF2B5EF4-FFF2-40B4-BE49-F238E27FC236}">
                <a16:creationId xmlns:a16="http://schemas.microsoft.com/office/drawing/2014/main" id="{96233591-76D2-4371-8A03-36C4FB05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def-head-0">
            <a:extLst xmlns:a="http://schemas.openxmlformats.org/drawingml/2006/main">
              <a:ext uri="{FF2B5EF4-FFF2-40B4-BE49-F238E27FC236}">
                <a16:creationId xmlns:a16="http://schemas.microsoft.com/office/drawing/2014/main" id="{0B054259-859D-4CAE-AB8E-53D6CF1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轮廓与尺度</a:t>
            </a:r>
          </a:p>
        </p:txBody>
      </p:sp>
      <p:sp>
        <p:nvSpPr>
          <p:cNvPr id="10" name="def-body-0">
            <a:extLst xmlns:a="http://schemas.openxmlformats.org/drawingml/2006/main">
              <a:ext uri="{FF2B5EF4-FFF2-40B4-BE49-F238E27FC236}">
                <a16:creationId xmlns:a16="http://schemas.microsoft.com/office/drawing/2014/main" id="{E799D9E1-D77E-4F48-82F6-ADB9C1B6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决定部件是否显得可按、可握或可转</a:t>
            </a:r>
          </a:p>
        </p:txBody>
      </p:sp>
      <p:sp>
        <p:nvSpPr>
          <p:cNvPr id="11" name="def-num-1">
            <a:extLst xmlns:a="http://schemas.openxmlformats.org/drawingml/2006/main">
              <a:ext uri="{FF2B5EF4-FFF2-40B4-BE49-F238E27FC236}">
                <a16:creationId xmlns:a16="http://schemas.microsoft.com/office/drawing/2014/main" id="{15E42FFA-ECBA-4C20-9E96-4E5C6982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def-head-1">
            <a:extLst xmlns:a="http://schemas.openxmlformats.org/drawingml/2006/main">
              <a:ext uri="{FF2B5EF4-FFF2-40B4-BE49-F238E27FC236}">
                <a16:creationId xmlns:a16="http://schemas.microsoft.com/office/drawing/2014/main" id="{776FA12F-B183-4192-B6ED-49D583FA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42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接触方式</a:t>
            </a:r>
          </a:p>
        </p:txBody>
      </p:sp>
      <p:sp>
        <p:nvSpPr>
          <p:cNvPr id="13" name="def-body-1">
            <a:extLst xmlns:a="http://schemas.openxmlformats.org/drawingml/2006/main">
              <a:ext uri="{FF2B5EF4-FFF2-40B4-BE49-F238E27FC236}">
                <a16:creationId xmlns:a16="http://schemas.microsoft.com/office/drawing/2014/main" id="{83659C4B-9B7F-4705-9296-88FCCE0B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43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平面、凹面、纹理对应不同手部动作</a:t>
            </a:r>
          </a:p>
        </p:txBody>
      </p:sp>
      <p:sp>
        <p:nvSpPr>
          <p:cNvPr id="14" name="def-num-2">
            <a:extLst xmlns:a="http://schemas.openxmlformats.org/drawingml/2006/main">
              <a:ext uri="{FF2B5EF4-FFF2-40B4-BE49-F238E27FC236}">
                <a16:creationId xmlns:a16="http://schemas.microsoft.com/office/drawing/2014/main" id="{C28E8258-5FDE-4405-AE72-8CD39180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def-head-2">
            <a:extLst xmlns:a="http://schemas.openxmlformats.org/drawingml/2006/main">
              <a:ext uri="{FF2B5EF4-FFF2-40B4-BE49-F238E27FC236}">
                <a16:creationId xmlns:a16="http://schemas.microsoft.com/office/drawing/2014/main" id="{E4D3FFF0-3894-4FC7-97F8-4B2E0C0F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386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位置与方向</a:t>
            </a:r>
          </a:p>
        </p:txBody>
      </p:sp>
      <p:sp>
        <p:nvSpPr>
          <p:cNvPr id="16" name="def-body-2">
            <a:extLst xmlns:a="http://schemas.openxmlformats.org/drawingml/2006/main">
              <a:ext uri="{FF2B5EF4-FFF2-40B4-BE49-F238E27FC236}">
                <a16:creationId xmlns:a16="http://schemas.microsoft.com/office/drawing/2014/main" id="{0057131E-716B-41BA-BD26-858A7B01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建立控制动作与产品结果之间的关系</a:t>
            </a:r>
          </a:p>
        </p:txBody>
      </p:sp>
      <p:sp>
        <p:nvSpPr>
          <p:cNvPr id="17" name="def-num-3">
            <a:extLst xmlns:a="http://schemas.openxmlformats.org/drawingml/2006/main">
              <a:ext uri="{FF2B5EF4-FFF2-40B4-BE49-F238E27FC236}">
                <a16:creationId xmlns:a16="http://schemas.microsoft.com/office/drawing/2014/main" id="{159A840D-3931-4D25-A12E-A0D8E025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57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8" name="def-head-3">
            <a:extLst xmlns:a="http://schemas.openxmlformats.org/drawingml/2006/main">
              <a:ext uri="{FF2B5EF4-FFF2-40B4-BE49-F238E27FC236}">
                <a16:creationId xmlns:a16="http://schemas.microsoft.com/office/drawing/2014/main" id="{ACB4C88B-2304-4AB6-9422-DD521571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386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色彩与状态</a:t>
            </a:r>
          </a:p>
        </p:txBody>
      </p:sp>
      <p:sp>
        <p:nvSpPr>
          <p:cNvPr id="19" name="def-body-3">
            <a:extLst xmlns:a="http://schemas.openxmlformats.org/drawingml/2006/main">
              <a:ext uri="{FF2B5EF4-FFF2-40B4-BE49-F238E27FC236}">
                <a16:creationId xmlns:a16="http://schemas.microsoft.com/office/drawing/2014/main" id="{4FAF35DA-E67F-4156-AC0C-2FF32A0F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提示工作状态，并突出安全信息</a:t>
            </a:r>
          </a:p>
        </p:txBody>
      </p:sp>
      <p:sp>
        <p:nvSpPr>
          <p:cNvPr id="20" name="page-2">
            <a:extLst xmlns:a="http://schemas.openxmlformats.org/drawingml/2006/main">
              <a:ext uri="{FF2B5EF4-FFF2-40B4-BE49-F238E27FC236}">
                <a16:creationId xmlns:a16="http://schemas.microsoft.com/office/drawing/2014/main" id="{912531BB-6FA6-47B6-AE7D-5AC2AD1D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01792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6ea78b1044b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2">
            <a:extLst xmlns:a="http://schemas.openxmlformats.org/drawingml/2006/main">
              <a:ext uri="{FF2B5EF4-FFF2-40B4-BE49-F238E27FC236}">
                <a16:creationId xmlns:a16="http://schemas.microsoft.com/office/drawing/2014/main" id="{CA8DEC0C-7167-4BB1-83E1-4BD44B15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77023EDE-D2A1-48ED-9F8B-5BF5F5F3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分析框架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B5A4612C-8DA6-41FA-9E72-A0AF2658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四个问题</a:t>
            </a:r>
          </a:p>
        </p:txBody>
      </p:sp>
      <p:cxnSp>
        <p:nvCxnSpPr>
          <p:cNvPr id="27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sp>
        <p:nvSpPr>
          <p:cNvPr id="6" name="q-num-0">
            <a:extLst xmlns:a="http://schemas.openxmlformats.org/drawingml/2006/main">
              <a:ext uri="{FF2B5EF4-FFF2-40B4-BE49-F238E27FC236}">
                <a16:creationId xmlns:a16="http://schemas.microsoft.com/office/drawing/2014/main" id="{82E713C2-ACD5-428F-85A0-FC9AB7A0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q-head-0">
            <a:extLst xmlns:a="http://schemas.openxmlformats.org/drawingml/2006/main">
              <a:ext uri="{FF2B5EF4-FFF2-40B4-BE49-F238E27FC236}">
                <a16:creationId xmlns:a16="http://schemas.microsoft.com/office/drawing/2014/main" id="{2EAC3899-71B1-4B73-8B6B-B620C970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192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能否操作</a:t>
            </a:r>
          </a:p>
        </p:txBody>
      </p:sp>
      <p:sp>
        <p:nvSpPr>
          <p:cNvPr id="8" name="q-body-0">
            <a:extLst xmlns:a="http://schemas.openxmlformats.org/drawingml/2006/main">
              <a:ext uri="{FF2B5EF4-FFF2-40B4-BE49-F238E27FC236}">
                <a16:creationId xmlns:a16="http://schemas.microsoft.com/office/drawing/2014/main" id="{C7750C2B-74EB-4223-AC36-13617B70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382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部件是否容易被发现和触达</a:t>
            </a:r>
          </a:p>
        </p:txBody>
      </p:sp>
      <p:cxnSp>
        <p:nvCxnSpPr>
          <p:cNvPr id="31" name="line"/>
          <p:cNvCxnSpPr/>
          <p:nvPr/>
        </p:nvCxnSpPr>
        <p:spPr>
          <a:xfrm xmlns:a="http://schemas.openxmlformats.org/drawingml/2006/main">
            <a:off x="1809750" y="1971675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3D5"/>
            </a:solidFill>
            <a:prstDash val="solid"/>
          </a:ln>
        </p:spPr>
      </p:cxnSp>
      <p:sp>
        <p:nvSpPr>
          <p:cNvPr id="10" name="q-num-1">
            <a:extLst xmlns:a="http://schemas.openxmlformats.org/drawingml/2006/main">
              <a:ext uri="{FF2B5EF4-FFF2-40B4-BE49-F238E27FC236}">
                <a16:creationId xmlns:a16="http://schemas.microsoft.com/office/drawing/2014/main" id="{A2B6045B-B50E-4738-9B30-0B1D674D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q-head-1">
            <a:extLst xmlns:a="http://schemas.openxmlformats.org/drawingml/2006/main">
              <a:ext uri="{FF2B5EF4-FFF2-40B4-BE49-F238E27FC236}">
                <a16:creationId xmlns:a16="http://schemas.microsoft.com/office/drawing/2014/main" id="{A54EF012-E3C2-4D0B-B6D8-24E3BFF6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动作是什么</a:t>
            </a:r>
          </a:p>
        </p:txBody>
      </p:sp>
      <p:sp>
        <p:nvSpPr>
          <p:cNvPr id="12" name="q-body-1">
            <a:extLst xmlns:a="http://schemas.openxmlformats.org/drawingml/2006/main">
              <a:ext uri="{FF2B5EF4-FFF2-40B4-BE49-F238E27FC236}">
                <a16:creationId xmlns:a16="http://schemas.microsoft.com/office/drawing/2014/main" id="{91F6338E-3C0F-4390-8B50-F8DC9D2D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384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推、拉、握、转或按压</a:t>
            </a:r>
          </a:p>
        </p:txBody>
      </p:sp>
      <p:cxnSp>
        <p:nvCxnSpPr>
          <p:cNvPr id="35" name="line"/>
          <p:cNvCxnSpPr/>
          <p:nvPr/>
        </p:nvCxnSpPr>
        <p:spPr>
          <a:xfrm xmlns:a="http://schemas.openxmlformats.org/drawingml/2006/main">
            <a:off x="1809750" y="3171825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3D5"/>
            </a:solidFill>
            <a:prstDash val="solid"/>
          </a:ln>
        </p:spPr>
      </p:cxnSp>
      <p:sp>
        <p:nvSpPr>
          <p:cNvPr id="14" name="q-num-2">
            <a:extLst xmlns:a="http://schemas.openxmlformats.org/drawingml/2006/main">
              <a:ext uri="{FF2B5EF4-FFF2-40B4-BE49-F238E27FC236}">
                <a16:creationId xmlns:a16="http://schemas.microsoft.com/office/drawing/2014/main" id="{53AD36A8-6ECD-4504-9C98-16EE85B5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q-head-2">
            <a:extLst xmlns:a="http://schemas.openxmlformats.org/drawingml/2006/main">
              <a:ext uri="{FF2B5EF4-FFF2-40B4-BE49-F238E27FC236}">
                <a16:creationId xmlns:a16="http://schemas.microsoft.com/office/drawing/2014/main" id="{727236F8-8883-4712-A7E5-62082DB9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95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结果怎样变化</a:t>
            </a:r>
          </a:p>
        </p:txBody>
      </p:sp>
      <p:sp>
        <p:nvSpPr>
          <p:cNvPr id="16" name="q-body-2">
            <a:extLst xmlns:a="http://schemas.openxmlformats.org/drawingml/2006/main">
              <a:ext uri="{FF2B5EF4-FFF2-40B4-BE49-F238E27FC236}">
                <a16:creationId xmlns:a16="http://schemas.microsoft.com/office/drawing/2014/main" id="{EAB96BDE-EC52-41F3-92D5-84401F71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385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动作方向和状态变化是否对应</a:t>
            </a:r>
          </a:p>
        </p:txBody>
      </p:sp>
      <p:cxnSp>
        <p:nvCxnSpPr>
          <p:cNvPr id="39" name="line"/>
          <p:cNvCxnSpPr/>
          <p:nvPr/>
        </p:nvCxnSpPr>
        <p:spPr>
          <a:xfrm xmlns:a="http://schemas.openxmlformats.org/drawingml/2006/main">
            <a:off x="1809750" y="4371975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3D5"/>
            </a:solidFill>
            <a:prstDash val="solid"/>
          </a:ln>
        </p:spPr>
      </p:cxnSp>
      <p:sp>
        <p:nvSpPr>
          <p:cNvPr id="18" name="q-num-3">
            <a:extLst xmlns:a="http://schemas.openxmlformats.org/drawingml/2006/main">
              <a:ext uri="{FF2B5EF4-FFF2-40B4-BE49-F238E27FC236}">
                <a16:creationId xmlns:a16="http://schemas.microsoft.com/office/drawing/2014/main" id="{A6688DDD-CD7D-465C-9D28-96EFAD50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94A43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94A43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q-head-3">
            <a:extLst xmlns:a="http://schemas.openxmlformats.org/drawingml/2006/main">
              <a:ext uri="{FF2B5EF4-FFF2-40B4-BE49-F238E27FC236}">
                <a16:creationId xmlns:a16="http://schemas.microsoft.com/office/drawing/2014/main" id="{A6C8E7CB-7132-4E0A-952E-5872927B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风险是否清楚</a:t>
            </a:r>
          </a:p>
        </p:txBody>
      </p:sp>
      <p:sp>
        <p:nvSpPr>
          <p:cNvPr id="20" name="q-body-3">
            <a:extLst xmlns:a="http://schemas.openxmlformats.org/drawingml/2006/main">
              <a:ext uri="{FF2B5EF4-FFF2-40B4-BE49-F238E27FC236}">
                <a16:creationId xmlns:a16="http://schemas.microsoft.com/office/drawing/2014/main" id="{D3576429-5F41-43BE-A732-A9905058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387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高风险操作是否有醒目的提示</a:t>
            </a:r>
          </a:p>
        </p:txBody>
      </p:sp>
      <p:cxnSp>
        <p:nvCxnSpPr>
          <p:cNvPr id="43" name="line"/>
          <p:cNvCxnSpPr/>
          <p:nvPr/>
        </p:nvCxnSpPr>
        <p:spPr>
          <a:xfrm xmlns:a="http://schemas.openxmlformats.org/drawingml/2006/main">
            <a:off x="1809750" y="5572125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3D5"/>
            </a:solidFill>
            <a:prstDash val="solid"/>
          </a:ln>
        </p:spPr>
      </p:cxn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11633F70-0975-421F-B6F6-9A10A606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47078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f8b87ddfe40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3">
            <a:extLst xmlns:a="http://schemas.openxmlformats.org/drawingml/2006/main">
              <a:ext uri="{FF2B5EF4-FFF2-40B4-BE49-F238E27FC236}">
                <a16:creationId xmlns:a16="http://schemas.microsoft.com/office/drawing/2014/main" id="{3C80F1A2-5273-4A6A-8033-47B07BE1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0A6B53E2-241F-4DF7-B5C7-09E308A1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四类产品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B998E437-9791-4C5D-9F1F-A150AA46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案例范围</a:t>
            </a:r>
          </a:p>
        </p:txBody>
      </p:sp>
      <p:cxnSp>
        <p:nvCxnSpPr>
          <p:cNvPr id="31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sp>
        <p:nvSpPr>
          <p:cNvPr id="6" name="cat-num-0">
            <a:extLst xmlns:a="http://schemas.openxmlformats.org/drawingml/2006/main">
              <a:ext uri="{FF2B5EF4-FFF2-40B4-BE49-F238E27FC236}">
                <a16:creationId xmlns:a16="http://schemas.microsoft.com/office/drawing/2014/main" id="{48BC9EC2-2E34-41E1-B213-5D865120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cat-product-0">
            <a:extLst xmlns:a="http://schemas.openxmlformats.org/drawingml/2006/main">
              <a:ext uri="{FF2B5EF4-FFF2-40B4-BE49-F238E27FC236}">
                <a16:creationId xmlns:a16="http://schemas.microsoft.com/office/drawing/2014/main" id="{C7BBC34E-58FA-4A30-A9B2-BA4B7CE5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620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门五金</a:t>
            </a:r>
          </a:p>
        </p:txBody>
      </p:sp>
      <p:sp>
        <p:nvSpPr>
          <p:cNvPr id="8" name="cat-action-0">
            <a:extLst xmlns:a="http://schemas.openxmlformats.org/drawingml/2006/main">
              <a:ext uri="{FF2B5EF4-FFF2-40B4-BE49-F238E27FC236}">
                <a16:creationId xmlns:a16="http://schemas.microsoft.com/office/drawing/2014/main" id="{4552C2F2-E887-4133-B408-BDFC8CBD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推与拉</a:t>
            </a:r>
          </a:p>
        </p:txBody>
      </p:sp>
      <p:sp>
        <p:nvSpPr>
          <p:cNvPr id="9" name="cat-desc-0">
            <a:extLst xmlns:a="http://schemas.openxmlformats.org/drawingml/2006/main">
              <a:ext uri="{FF2B5EF4-FFF2-40B4-BE49-F238E27FC236}">
                <a16:creationId xmlns:a16="http://schemas.microsoft.com/office/drawing/2014/main" id="{EDD2D057-C7F7-4E03-8D43-20235D6F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接触面积和抓握空间提示开门动作</a:t>
            </a:r>
          </a:p>
        </p:txBody>
      </p:sp>
      <p:cxnSp>
        <p:nvCxnSpPr>
          <p:cNvPr id="36" name="line"/>
          <p:cNvCxnSpPr/>
          <p:nvPr/>
        </p:nvCxnSpPr>
        <p:spPr>
          <a:xfrm xmlns:a="http://schemas.openxmlformats.org/drawingml/2006/main">
            <a:off x="666750" y="204787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11" name="cat-num-1">
            <a:extLst xmlns:a="http://schemas.openxmlformats.org/drawingml/2006/main">
              <a:ext uri="{FF2B5EF4-FFF2-40B4-BE49-F238E27FC236}">
                <a16:creationId xmlns:a16="http://schemas.microsoft.com/office/drawing/2014/main" id="{37DBA1DA-F388-49C6-899E-7702549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cat-product-1">
            <a:extLst xmlns:a="http://schemas.openxmlformats.org/drawingml/2006/main">
              <a:ext uri="{FF2B5EF4-FFF2-40B4-BE49-F238E27FC236}">
                <a16:creationId xmlns:a16="http://schemas.microsoft.com/office/drawing/2014/main" id="{B7C4D33F-19F2-4487-A75F-FCB63162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622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电热水壶</a:t>
            </a:r>
          </a:p>
        </p:txBody>
      </p:sp>
      <p:sp>
        <p:nvSpPr>
          <p:cNvPr id="13" name="cat-action-1">
            <a:extLst xmlns:a="http://schemas.openxmlformats.org/drawingml/2006/main">
              <a:ext uri="{FF2B5EF4-FFF2-40B4-BE49-F238E27FC236}">
                <a16:creationId xmlns:a16="http://schemas.microsoft.com/office/drawing/2014/main" id="{AC26D2EE-EF0E-4DC8-BE4E-B0525891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812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握持与倾倒</a:t>
            </a:r>
          </a:p>
        </p:txBody>
      </p:sp>
      <p:sp>
        <p:nvSpPr>
          <p:cNvPr id="14" name="cat-desc-1">
            <a:extLst xmlns:a="http://schemas.openxmlformats.org/drawingml/2006/main">
              <a:ext uri="{FF2B5EF4-FFF2-40B4-BE49-F238E27FC236}">
                <a16:creationId xmlns:a16="http://schemas.microsoft.com/office/drawing/2014/main" id="{0D5EDB23-069A-4B0A-BD05-32870C3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把手、壶嘴和重心共同限定动作顺序</a:t>
            </a:r>
          </a:p>
        </p:txBody>
      </p:sp>
      <p:cxnSp>
        <p:nvCxnSpPr>
          <p:cNvPr id="41" name="line"/>
          <p:cNvCxnSpPr/>
          <p:nvPr/>
        </p:nvCxnSpPr>
        <p:spPr>
          <a:xfrm xmlns:a="http://schemas.openxmlformats.org/drawingml/2006/main">
            <a:off x="666750" y="324802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16" name="cat-num-2">
            <a:extLst xmlns:a="http://schemas.openxmlformats.org/drawingml/2006/main">
              <a:ext uri="{FF2B5EF4-FFF2-40B4-BE49-F238E27FC236}">
                <a16:creationId xmlns:a16="http://schemas.microsoft.com/office/drawing/2014/main" id="{1F09C6E8-CF9C-45D0-BC60-15F02446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cat-product-2">
            <a:extLst xmlns:a="http://schemas.openxmlformats.org/drawingml/2006/main">
              <a:ext uri="{FF2B5EF4-FFF2-40B4-BE49-F238E27FC236}">
                <a16:creationId xmlns:a16="http://schemas.microsoft.com/office/drawing/2014/main" id="{31938670-1D98-43C9-AF0B-30908922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控制旋钮</a:t>
            </a:r>
          </a:p>
        </p:txBody>
      </p:sp>
      <p:sp>
        <p:nvSpPr>
          <p:cNvPr id="18" name="cat-action-2">
            <a:extLst xmlns:a="http://schemas.openxmlformats.org/drawingml/2006/main">
              <a:ext uri="{FF2B5EF4-FFF2-40B4-BE49-F238E27FC236}">
                <a16:creationId xmlns:a16="http://schemas.microsoft.com/office/drawing/2014/main" id="{059B9A9E-AF8A-4249-B836-1C122CFF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814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旋转调节</a:t>
            </a:r>
          </a:p>
        </p:txBody>
      </p:sp>
      <p:sp>
        <p:nvSpPr>
          <p:cNvPr id="19" name="cat-desc-2">
            <a:extLst xmlns:a="http://schemas.openxmlformats.org/drawingml/2006/main">
              <a:ext uri="{FF2B5EF4-FFF2-40B4-BE49-F238E27FC236}">
                <a16:creationId xmlns:a16="http://schemas.microsoft.com/office/drawing/2014/main" id="{71BC92A6-76D7-4CA5-8219-02BACB84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814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滚花、指针和刻度表示连续变化</a:t>
            </a:r>
          </a:p>
        </p:txBody>
      </p:sp>
      <p:cxnSp>
        <p:nvCxnSpPr>
          <p:cNvPr id="46" name="line"/>
          <p:cNvCxnSpPr/>
          <p:nvPr/>
        </p:nvCxnSpPr>
        <p:spPr>
          <a:xfrm xmlns:a="http://schemas.openxmlformats.org/drawingml/2006/main">
            <a:off x="666750" y="444817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21" name="cat-num-3">
            <a:extLst xmlns:a="http://schemas.openxmlformats.org/drawingml/2006/main">
              <a:ext uri="{FF2B5EF4-FFF2-40B4-BE49-F238E27FC236}">
                <a16:creationId xmlns:a16="http://schemas.microsoft.com/office/drawing/2014/main" id="{FE2621C0-6B06-488A-946A-3331FD8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cat-product-3">
            <a:extLst xmlns:a="http://schemas.openxmlformats.org/drawingml/2006/main">
              <a:ext uri="{FF2B5EF4-FFF2-40B4-BE49-F238E27FC236}">
                <a16:creationId xmlns:a16="http://schemas.microsoft.com/office/drawing/2014/main" id="{6D89C696-2F99-43AD-A085-DFA9EE7D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625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急停按钮</a:t>
            </a:r>
          </a:p>
        </p:txBody>
      </p:sp>
      <p:sp>
        <p:nvSpPr>
          <p:cNvPr id="23" name="cat-action-3">
            <a:extLst xmlns:a="http://schemas.openxmlformats.org/drawingml/2006/main">
              <a:ext uri="{FF2B5EF4-FFF2-40B4-BE49-F238E27FC236}">
                <a16:creationId xmlns:a16="http://schemas.microsoft.com/office/drawing/2014/main" id="{B7EFA788-D66B-41CE-9BBC-B23E33C5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81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紧急停止</a:t>
            </a:r>
          </a:p>
        </p:txBody>
      </p:sp>
      <p:sp>
        <p:nvSpPr>
          <p:cNvPr id="24" name="cat-desc-3">
            <a:extLst xmlns:a="http://schemas.openxmlformats.org/drawingml/2006/main">
              <a:ext uri="{FF2B5EF4-FFF2-40B4-BE49-F238E27FC236}">
                <a16:creationId xmlns:a16="http://schemas.microsoft.com/office/drawing/2014/main" id="{D1AB8044-606F-4E6A-BEE3-14662BC7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尺寸、颜色和防护结构提示风险等级</a:t>
            </a:r>
          </a:p>
        </p:txBody>
      </p:sp>
      <p:cxnSp>
        <p:nvCxnSpPr>
          <p:cNvPr id="51" name="line"/>
          <p:cNvCxnSpPr/>
          <p:nvPr/>
        </p:nvCxnSpPr>
        <p:spPr>
          <a:xfrm xmlns:a="http://schemas.openxmlformats.org/drawingml/2006/main">
            <a:off x="666750" y="564832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26" name="page-4">
            <a:extLst xmlns:a="http://schemas.openxmlformats.org/drawingml/2006/main">
              <a:ext uri="{FF2B5EF4-FFF2-40B4-BE49-F238E27FC236}">
                <a16:creationId xmlns:a16="http://schemas.microsoft.com/office/drawing/2014/main" id="{181BA2B0-0801-4C5B-BB5E-1C1E552D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11694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9567561bb44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4">
            <a:extLst xmlns:a="http://schemas.openxmlformats.org/drawingml/2006/main">
              <a:ext uri="{FF2B5EF4-FFF2-40B4-BE49-F238E27FC236}">
                <a16:creationId xmlns:a16="http://schemas.microsoft.com/office/drawing/2014/main" id="{72E24084-9510-43C4-88E2-F02EB15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F66B7093-9A8E-4E37-B548-68B2435B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推与拉：门五金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FC8FB108-33E3-46A5-B099-DE58A14D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cxnSp>
        <p:nvCxnSpPr>
          <p:cNvPr id="17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a96a6238d446d"/>
          <a:srcRect xmlns:a="http://schemas.openxmlformats.org/drawingml/2006/main" l="8000" t="0" r="8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257300"/>
            <a:ext cx="5334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case-index-5">
            <a:extLst xmlns:a="http://schemas.openxmlformats.org/drawingml/2006/main">
              <a:ext uri="{FF2B5EF4-FFF2-40B4-BE49-F238E27FC236}">
                <a16:creationId xmlns:a16="http://schemas.microsoft.com/office/drawing/2014/main" id="{264D42F8-BC7F-41CB-A4DB-FC178674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case-head-5-0">
            <a:extLst xmlns:a="http://schemas.openxmlformats.org/drawingml/2006/main">
              <a:ext uri="{FF2B5EF4-FFF2-40B4-BE49-F238E27FC236}">
                <a16:creationId xmlns:a16="http://schemas.microsoft.com/office/drawing/2014/main" id="{7FDB3FDE-F17A-4E82-AF06-4634921D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平板提示向前推</a:t>
            </a:r>
          </a:p>
        </p:txBody>
      </p:sp>
      <p:sp>
        <p:nvSpPr>
          <p:cNvPr id="9" name="case-body-5-0">
            <a:extLst xmlns:a="http://schemas.openxmlformats.org/drawingml/2006/main">
              <a:ext uri="{FF2B5EF4-FFF2-40B4-BE49-F238E27FC236}">
                <a16:creationId xmlns:a16="http://schemas.microsoft.com/office/drawing/2014/main" id="{C2BB8E4C-A6C6-4B35-A5E0-980C1630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表面宽而平，没有抓握空间，适合用手掌施力。</a:t>
            </a:r>
          </a:p>
        </p:txBody>
      </p:sp>
      <p:sp>
        <p:nvSpPr>
          <p:cNvPr id="10" name="case-head-5-1">
            <a:extLst xmlns:a="http://schemas.openxmlformats.org/drawingml/2006/main">
              <a:ext uri="{FF2B5EF4-FFF2-40B4-BE49-F238E27FC236}">
                <a16:creationId xmlns:a16="http://schemas.microsoft.com/office/drawing/2014/main" id="{8AACD3EE-2A2E-4775-956A-4B1AF7DA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拉手提示向后拉</a:t>
            </a:r>
          </a:p>
        </p:txBody>
      </p:sp>
      <p:sp>
        <p:nvSpPr>
          <p:cNvPr id="11" name="case-body-5-1">
            <a:extLst xmlns:a="http://schemas.openxmlformats.org/drawingml/2006/main">
              <a:ext uri="{FF2B5EF4-FFF2-40B4-BE49-F238E27FC236}">
                <a16:creationId xmlns:a16="http://schemas.microsoft.com/office/drawing/2014/main" id="{491DBF39-B7C8-475B-B8C8-FADD11AD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立体拉手为手指留出空间，抓握后自然向身体方向用力。</a:t>
            </a:r>
          </a:p>
        </p:txBody>
      </p:sp>
      <p:sp>
        <p:nvSpPr>
          <p:cNvPr id="12" name="page-5">
            <a:extLst xmlns:a="http://schemas.openxmlformats.org/drawingml/2006/main">
              <a:ext uri="{FF2B5EF4-FFF2-40B4-BE49-F238E27FC236}">
                <a16:creationId xmlns:a16="http://schemas.microsoft.com/office/drawing/2014/main" id="{F3CA4AA4-F74F-4AA9-B098-35DC30A4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82345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5f28b80de4e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5">
            <a:extLst xmlns:a="http://schemas.openxmlformats.org/drawingml/2006/main">
              <a:ext uri="{FF2B5EF4-FFF2-40B4-BE49-F238E27FC236}">
                <a16:creationId xmlns:a16="http://schemas.microsoft.com/office/drawing/2014/main" id="{4BD0D499-040D-4DA0-AD87-3BAD5D01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7D15C219-1552-4547-84FB-4A73D045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握持与倾倒：电热水壶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49C9CBDF-0B4D-485D-8CD1-EE667847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cxnSp>
        <p:nvCxnSpPr>
          <p:cNvPr id="17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d41df738c41f4"/>
          <a:srcRect xmlns:a="http://schemas.openxmlformats.org/drawingml/2006/main" l="8000" t="0" r="8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257300"/>
            <a:ext cx="5334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case-index-6">
            <a:extLst xmlns:a="http://schemas.openxmlformats.org/drawingml/2006/main">
              <a:ext uri="{FF2B5EF4-FFF2-40B4-BE49-F238E27FC236}">
                <a16:creationId xmlns:a16="http://schemas.microsoft.com/office/drawing/2014/main" id="{A7DD8B66-C0AB-4325-B485-755F730A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8" name="case-head-6-0">
            <a:extLst xmlns:a="http://schemas.openxmlformats.org/drawingml/2006/main">
              <a:ext uri="{FF2B5EF4-FFF2-40B4-BE49-F238E27FC236}">
                <a16:creationId xmlns:a16="http://schemas.microsoft.com/office/drawing/2014/main" id="{A210E26B-910F-4DF0-9AEE-2D41A831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把手规定握持位置</a:t>
            </a:r>
          </a:p>
        </p:txBody>
      </p:sp>
      <p:sp>
        <p:nvSpPr>
          <p:cNvPr id="9" name="case-body-6-0">
            <a:extLst xmlns:a="http://schemas.openxmlformats.org/drawingml/2006/main">
              <a:ext uri="{FF2B5EF4-FFF2-40B4-BE49-F238E27FC236}">
                <a16:creationId xmlns:a16="http://schemas.microsoft.com/office/drawing/2014/main" id="{CD3C9C81-AD21-44DF-962E-B811D862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弧形空间容纳手指，隔热材料说明这里可以安全接触。</a:t>
            </a:r>
          </a:p>
        </p:txBody>
      </p:sp>
      <p:sp>
        <p:nvSpPr>
          <p:cNvPr id="10" name="case-head-6-1">
            <a:extLst xmlns:a="http://schemas.openxmlformats.org/drawingml/2006/main">
              <a:ext uri="{FF2B5EF4-FFF2-40B4-BE49-F238E27FC236}">
                <a16:creationId xmlns:a16="http://schemas.microsoft.com/office/drawing/2014/main" id="{EF7B0617-5D54-4B0C-B43F-AF6BFFEB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壶嘴说明出水方向</a:t>
            </a:r>
          </a:p>
        </p:txBody>
      </p:sp>
      <p:sp>
        <p:nvSpPr>
          <p:cNvPr id="11" name="case-body-6-1">
            <a:extLst xmlns:a="http://schemas.openxmlformats.org/drawingml/2006/main">
              <a:ext uri="{FF2B5EF4-FFF2-40B4-BE49-F238E27FC236}">
                <a16:creationId xmlns:a16="http://schemas.microsoft.com/office/drawing/2014/main" id="{BA73834E-F0B1-4BA3-AABD-0F3F128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壶嘴朝向与壶身重心一起提示倾倒方向。</a:t>
            </a:r>
          </a:p>
        </p:txBody>
      </p:sp>
      <p:sp>
        <p:nvSpPr>
          <p:cNvPr id="12" name="page-6">
            <a:extLst xmlns:a="http://schemas.openxmlformats.org/drawingml/2006/main">
              <a:ext uri="{FF2B5EF4-FFF2-40B4-BE49-F238E27FC236}">
                <a16:creationId xmlns:a16="http://schemas.microsoft.com/office/drawing/2014/main" id="{4BC721AF-AF80-432D-8385-976D2022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86444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734c26bfa4e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6">
            <a:extLst xmlns:a="http://schemas.openxmlformats.org/drawingml/2006/main">
              <a:ext uri="{FF2B5EF4-FFF2-40B4-BE49-F238E27FC236}">
                <a16:creationId xmlns:a16="http://schemas.microsoft.com/office/drawing/2014/main" id="{C390D476-54E6-47ED-AF92-79584516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4F84B2AA-C3E6-4FFE-B92B-EEF046AB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旋转调节：控制旋钮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5994A456-03AA-4815-B5BE-28DA0A97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cxnSp>
        <p:nvCxnSpPr>
          <p:cNvPr id="17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a76c8fc544045"/>
          <a:srcRect xmlns:a="http://schemas.openxmlformats.org/drawingml/2006/main" l="8000" t="0" r="8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257300"/>
            <a:ext cx="5334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case-index-7">
            <a:extLst xmlns:a="http://schemas.openxmlformats.org/drawingml/2006/main">
              <a:ext uri="{FF2B5EF4-FFF2-40B4-BE49-F238E27FC236}">
                <a16:creationId xmlns:a16="http://schemas.microsoft.com/office/drawing/2014/main" id="{81F05445-A116-4971-BE00-0B012EBB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8" name="case-head-7-0">
            <a:extLst xmlns:a="http://schemas.openxmlformats.org/drawingml/2006/main">
              <a:ext uri="{FF2B5EF4-FFF2-40B4-BE49-F238E27FC236}">
                <a16:creationId xmlns:a16="http://schemas.microsoft.com/office/drawing/2014/main" id="{5D14CABE-7B54-4084-AF56-2C0FD0B4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圆形和滚花提示旋转</a:t>
            </a:r>
          </a:p>
        </p:txBody>
      </p:sp>
      <p:sp>
        <p:nvSpPr>
          <p:cNvPr id="9" name="case-body-7-0">
            <a:extLst xmlns:a="http://schemas.openxmlformats.org/drawingml/2006/main">
              <a:ext uri="{FF2B5EF4-FFF2-40B4-BE49-F238E27FC236}">
                <a16:creationId xmlns:a16="http://schemas.microsoft.com/office/drawing/2014/main" id="{79B331FD-6CE1-4E0F-92BD-7F9C52C1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圆周轮廓允许连续转动，边缘纹理增加抓握摩擦。</a:t>
            </a:r>
          </a:p>
        </p:txBody>
      </p:sp>
      <p:sp>
        <p:nvSpPr>
          <p:cNvPr id="10" name="case-head-7-1">
            <a:extLst xmlns:a="http://schemas.openxmlformats.org/drawingml/2006/main">
              <a:ext uri="{FF2B5EF4-FFF2-40B4-BE49-F238E27FC236}">
                <a16:creationId xmlns:a16="http://schemas.microsoft.com/office/drawing/2014/main" id="{C03A1746-712D-4E69-8D4C-E0A2D37B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指针和刻度建立映射</a:t>
            </a:r>
          </a:p>
        </p:txBody>
      </p:sp>
      <p:sp>
        <p:nvSpPr>
          <p:cNvPr id="11" name="case-body-7-1">
            <a:extLst xmlns:a="http://schemas.openxmlformats.org/drawingml/2006/main">
              <a:ext uri="{FF2B5EF4-FFF2-40B4-BE49-F238E27FC236}">
                <a16:creationId xmlns:a16="http://schemas.microsoft.com/office/drawing/2014/main" id="{3AED60E2-FCB1-4F4C-BC7F-8ECCEE18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指针位置对应刻度变化，用户能够判断增减方向。</a:t>
            </a:r>
          </a:p>
        </p:txBody>
      </p:sp>
      <p:sp>
        <p:nvSpPr>
          <p:cNvPr id="12" name="page-7">
            <a:extLst xmlns:a="http://schemas.openxmlformats.org/drawingml/2006/main">
              <a:ext uri="{FF2B5EF4-FFF2-40B4-BE49-F238E27FC236}">
                <a16:creationId xmlns:a16="http://schemas.microsoft.com/office/drawing/2014/main" id="{6756F040-E458-4C8A-9837-975A885F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00840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404b9ca3142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7">
            <a:extLst xmlns:a="http://schemas.openxmlformats.org/drawingml/2006/main">
              <a:ext uri="{FF2B5EF4-FFF2-40B4-BE49-F238E27FC236}">
                <a16:creationId xmlns:a16="http://schemas.microsoft.com/office/drawing/2014/main" id="{CF9E2361-F7D3-4D75-8DAB-4F044072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2D8D79C7-A0BD-4818-83C8-8D4914BD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紧急停止：急停按钮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F612EF06-6CB6-4718-8841-F853E2E6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cxnSp>
        <p:nvCxnSpPr>
          <p:cNvPr id="17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ad1f4deb74dce"/>
          <a:srcRect xmlns:a="http://schemas.openxmlformats.org/drawingml/2006/main" l="8000" t="0" r="8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257300"/>
            <a:ext cx="5334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case-index-8">
            <a:extLst xmlns:a="http://schemas.openxmlformats.org/drawingml/2006/main">
              <a:ext uri="{FF2B5EF4-FFF2-40B4-BE49-F238E27FC236}">
                <a16:creationId xmlns:a16="http://schemas.microsoft.com/office/drawing/2014/main" id="{3D595B7E-63D2-440D-85AA-63EDA3A3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94A4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94A43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8" name="case-head-8-0">
            <a:extLst xmlns:a="http://schemas.openxmlformats.org/drawingml/2006/main">
              <a:ext uri="{FF2B5EF4-FFF2-40B4-BE49-F238E27FC236}">
                <a16:creationId xmlns:a16="http://schemas.microsoft.com/office/drawing/2014/main" id="{9F791971-856B-4127-8F1B-25CBEA20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大尺寸便于快速按下</a:t>
            </a:r>
          </a:p>
        </p:txBody>
      </p:sp>
      <p:sp>
        <p:nvSpPr>
          <p:cNvPr id="9" name="case-body-8-0">
            <a:extLst xmlns:a="http://schemas.openxmlformats.org/drawingml/2006/main">
              <a:ext uri="{FF2B5EF4-FFF2-40B4-BE49-F238E27FC236}">
                <a16:creationId xmlns:a16="http://schemas.microsoft.com/office/drawing/2014/main" id="{BA3C0F49-99F8-4D29-AE29-51D3C9FC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蘑菇头突出且接触面积大，紧急情况下更容易命中。</a:t>
            </a:r>
          </a:p>
        </p:txBody>
      </p:sp>
      <p:sp>
        <p:nvSpPr>
          <p:cNvPr id="10" name="case-head-8-1">
            <a:extLst xmlns:a="http://schemas.openxmlformats.org/drawingml/2006/main">
              <a:ext uri="{FF2B5EF4-FFF2-40B4-BE49-F238E27FC236}">
                <a16:creationId xmlns:a16="http://schemas.microsoft.com/office/drawing/2014/main" id="{5DC7EC78-6DB6-4F5F-B40E-41E41F68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红黄配色突出风险</a:t>
            </a:r>
          </a:p>
        </p:txBody>
      </p:sp>
      <p:sp>
        <p:nvSpPr>
          <p:cNvPr id="11" name="case-body-8-1">
            <a:extLst xmlns:a="http://schemas.openxmlformats.org/drawingml/2006/main">
              <a:ext uri="{FF2B5EF4-FFF2-40B4-BE49-F238E27FC236}">
                <a16:creationId xmlns:a16="http://schemas.microsoft.com/office/drawing/2014/main" id="{A84FFCA5-7D3B-424B-8360-B792FF61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高对比颜色显示重要性，防护结构同时减少误触。</a:t>
            </a:r>
          </a:p>
        </p:txBody>
      </p:sp>
      <p:sp>
        <p:nvSpPr>
          <p:cNvPr id="12" name="page-8">
            <a:extLst xmlns:a="http://schemas.openxmlformats.org/drawingml/2006/main">
              <a:ext uri="{FF2B5EF4-FFF2-40B4-BE49-F238E27FC236}">
                <a16:creationId xmlns:a16="http://schemas.microsoft.com/office/drawing/2014/main" id="{6776BB78-3654-4DDA-BE02-36F3EE35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75032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e4ab43db745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8">
            <a:extLst xmlns:a="http://schemas.openxmlformats.org/drawingml/2006/main">
              <a:ext uri="{FF2B5EF4-FFF2-40B4-BE49-F238E27FC236}">
                <a16:creationId xmlns:a16="http://schemas.microsoft.com/office/drawing/2014/main" id="{34516952-2889-4161-9145-8A4B339B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4C3743EA-6887-4013-9D13-F521721D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四个案例对比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86C81B68-2B00-4221-903E-31244C77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形态线索与信息</a:t>
            </a:r>
          </a:p>
        </p:txBody>
      </p:sp>
      <p:cxnSp>
        <p:nvCxnSpPr>
          <p:cNvPr id="12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3811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809750"/>
                <a:gridCol w="2714625"/>
                <a:gridCol w="2714625"/>
                <a:gridCol w="2133600"/>
              </a:tblGrid>
              <a:tr h="800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</a:t>
                      </a:r>
                    </a:p>
                  </a:txBody>
                  <a:tcPr marL="95250" marR="95250" marT="95250" marB="76200" anchor="ctr">
                    <a:solidFill>
                      <a:srgbClr val="4E53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主要信息</a:t>
                      </a:r>
                    </a:p>
                  </a:txBody>
                  <a:tcPr marL="95250" marR="95250" marT="95250" marB="76200" anchor="ctr">
                    <a:solidFill>
                      <a:srgbClr val="4E53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形态线索</a:t>
                      </a:r>
                    </a:p>
                  </a:txBody>
                  <a:tcPr marL="95250" marR="95250" marT="95250" marB="76200" anchor="ctr">
                    <a:solidFill>
                      <a:srgbClr val="4E53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对应关系</a:t>
                      </a:r>
                    </a:p>
                  </a:txBody>
                  <a:tcPr marL="95250" marR="95250" marT="95250" marB="76200" anchor="ctr">
                    <a:solidFill>
                      <a:srgbClr val="4E53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反馈或约束</a:t>
                      </a:r>
                    </a:p>
                  </a:txBody>
                  <a:tcPr marL="95250" marR="95250" marT="95250" marB="76200" anchor="ctr">
                    <a:solidFill>
                      <a:srgbClr val="4E535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门五金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推、拉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平板、拉手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施力方式与开门方向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抓握空间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电热水壶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握持、倾倒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把手、壶嘴、重心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握姿与出水方向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隔热和防烫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控制旋钮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连续调节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圆形、滚花、指针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旋转方向与增减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刻度和阻尼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急停按钮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紧急停止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大体量、红黄对比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拍击与停机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防护圈和复位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</a:tr>
            </a:tbl>
          </a:graphicData>
        </a:graphic>
      </p:graphicFrame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61002169-8384-4B23-97F3-A0B1EE17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75470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6fc5e72384b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9">
            <a:extLst xmlns:a="http://schemas.openxmlformats.org/drawingml/2006/main">
              <a:ext uri="{FF2B5EF4-FFF2-40B4-BE49-F238E27FC236}">
                <a16:creationId xmlns:a16="http://schemas.microsoft.com/office/drawing/2014/main" id="{7E01CB3D-829F-4369-888D-F79FEA1B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50843DF7-29A5-483F-9775-52F624F4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DC0FA884-3D09-4475-9B7D-EB744ED1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形态语义失效的原因</a:t>
            </a:r>
          </a:p>
        </p:txBody>
      </p:sp>
      <p:cxnSp>
        <p:nvCxnSpPr>
          <p:cNvPr id="20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sp>
        <p:nvSpPr>
          <p:cNvPr id="6" name="issue-head-0">
            <a:extLst xmlns:a="http://schemas.openxmlformats.org/drawingml/2006/main">
              <a:ext uri="{FF2B5EF4-FFF2-40B4-BE49-F238E27FC236}">
                <a16:creationId xmlns:a16="http://schemas.microsoft.com/office/drawing/2014/main" id="{9C547E63-6DEE-4AA2-950A-39F8AF5C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93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9"/>
          </a:solidFill>
          <a:ln xmlns:a="http://schemas.openxmlformats.org/drawingml/2006/main" w="9525">
            <a:solidFill>
              <a:srgbClr val="D3D7D9"/>
            </a:solidFill>
            <a:prstDash val="solid"/>
          </a:ln>
        </p:spPr>
        <p:txBody>
          <a:bodyPr xmlns:a="http://schemas.openxmlformats.org/drawingml/2006/main" wrap="square" lIns="152400" tIns="1143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动作冲突</a:t>
            </a:r>
          </a:p>
        </p:txBody>
      </p:sp>
      <p:sp>
        <p:nvSpPr>
          <p:cNvPr id="7" name="issue-body-0">
            <a:extLst xmlns:a="http://schemas.openxmlformats.org/drawingml/2006/main">
              <a:ext uri="{FF2B5EF4-FFF2-40B4-BE49-F238E27FC236}">
                <a16:creationId xmlns:a16="http://schemas.microsoft.com/office/drawing/2014/main" id="{830C6A84-BA6D-423D-8383-51C1103B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看起来能拉，实际只能推。</a:t>
            </a:r>
          </a:p>
        </p:txBody>
      </p:sp>
      <p:sp>
        <p:nvSpPr>
          <p:cNvPr id="8" name="issue-head-1">
            <a:extLst xmlns:a="http://schemas.openxmlformats.org/drawingml/2006/main">
              <a:ext uri="{FF2B5EF4-FFF2-40B4-BE49-F238E27FC236}">
                <a16:creationId xmlns:a16="http://schemas.microsoft.com/office/drawing/2014/main" id="{BF67178D-E982-4DEC-8146-69A649C2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3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9"/>
          </a:solidFill>
          <a:ln xmlns:a="http://schemas.openxmlformats.org/drawingml/2006/main" w="9525">
            <a:solidFill>
              <a:srgbClr val="D3D7D9"/>
            </a:solidFill>
            <a:prstDash val="solid"/>
          </a:ln>
        </p:spPr>
        <p:txBody>
          <a:bodyPr xmlns:a="http://schemas.openxmlformats.org/drawingml/2006/main" wrap="square" lIns="152400" tIns="1143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方向相反</a:t>
            </a:r>
          </a:p>
        </p:txBody>
      </p:sp>
      <p:sp>
        <p:nvSpPr>
          <p:cNvPr id="9" name="issue-body-1">
            <a:extLst xmlns:a="http://schemas.openxmlformats.org/drawingml/2006/main">
              <a:ext uri="{FF2B5EF4-FFF2-40B4-BE49-F238E27FC236}">
                <a16:creationId xmlns:a16="http://schemas.microsoft.com/office/drawing/2014/main" id="{D7A60C60-E7FE-4F69-A10B-0682E108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旋转方向与数值变化不符合习惯。</a:t>
            </a:r>
          </a:p>
        </p:txBody>
      </p:sp>
      <p:sp>
        <p:nvSpPr>
          <p:cNvPr id="10" name="issue-head-2">
            <a:extLst xmlns:a="http://schemas.openxmlformats.org/drawingml/2006/main">
              <a:ext uri="{FF2B5EF4-FFF2-40B4-BE49-F238E27FC236}">
                <a16:creationId xmlns:a16="http://schemas.microsoft.com/office/drawing/2014/main" id="{A37B658B-3FAC-417B-B3EB-BD4E275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493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E3"/>
          </a:solidFill>
          <a:ln xmlns:a="http://schemas.openxmlformats.org/drawingml/2006/main" w="9525">
            <a:solidFill>
              <a:srgbClr val="D3D7D9"/>
            </a:solidFill>
            <a:prstDash val="solid"/>
          </a:ln>
        </p:spPr>
        <p:txBody>
          <a:bodyPr xmlns:a="http://schemas.openxmlformats.org/drawingml/2006/main" wrap="square" lIns="152400" tIns="1143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94A4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94A43"/>
                </a:solidFill>
                <a:latin typeface="微软雅黑"/>
                <a:ea typeface="微软雅黑"/>
                <a:cs typeface="微软雅黑"/>
              </a:rPr>
              <a:t>风险不明显</a:t>
            </a:r>
          </a:p>
        </p:txBody>
      </p:sp>
      <p:sp>
        <p:nvSpPr>
          <p:cNvPr id="11" name="issue-body-2">
            <a:extLst xmlns:a="http://schemas.openxmlformats.org/drawingml/2006/main">
              <a:ext uri="{FF2B5EF4-FFF2-40B4-BE49-F238E27FC236}">
                <a16:creationId xmlns:a16="http://schemas.microsoft.com/office/drawing/2014/main" id="{66C33C6B-6869-418C-AAEC-ABFDA0D4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急停和普通按键在尺寸、位置或颜色上没有区别。</a:t>
            </a:r>
          </a:p>
        </p:txBody>
      </p:sp>
      <p:sp>
        <p:nvSpPr>
          <p:cNvPr id="12" name="issue-head-3">
            <a:extLst xmlns:a="http://schemas.openxmlformats.org/drawingml/2006/main">
              <a:ext uri="{FF2B5EF4-FFF2-40B4-BE49-F238E27FC236}">
                <a16:creationId xmlns:a16="http://schemas.microsoft.com/office/drawing/2014/main" id="{5AAD8445-7514-47A0-AD83-1EB321A0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93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9"/>
          </a:solidFill>
          <a:ln xmlns:a="http://schemas.openxmlformats.org/drawingml/2006/main" w="9525">
            <a:solidFill>
              <a:srgbClr val="D3D7D9"/>
            </a:solidFill>
            <a:prstDash val="solid"/>
          </a:ln>
        </p:spPr>
        <p:txBody>
          <a:bodyPr xmlns:a="http://schemas.openxmlformats.org/drawingml/2006/main" wrap="square" lIns="152400" tIns="1143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只靠文字说明</a:t>
            </a:r>
          </a:p>
        </p:txBody>
      </p:sp>
      <p:sp>
        <p:nvSpPr>
          <p:cNvPr id="13" name="issue-body-3">
            <a:extLst xmlns:a="http://schemas.openxmlformats.org/drawingml/2006/main">
              <a:ext uri="{FF2B5EF4-FFF2-40B4-BE49-F238E27FC236}">
                <a16:creationId xmlns:a16="http://schemas.microsoft.com/office/drawing/2014/main" id="{D174DEFB-96C8-4820-81AD-F5EEB859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00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去掉标签后，用户无法判断功能。</a:t>
            </a:r>
          </a:p>
        </p:txBody>
      </p:sp>
      <p:sp>
        <p:nvSpPr>
          <p:cNvPr id="14" name="issue-standard">
            <a:extLst xmlns:a="http://schemas.openxmlformats.org/drawingml/2006/main">
              <a:ext uri="{FF2B5EF4-FFF2-40B4-BE49-F238E27FC236}">
                <a16:creationId xmlns:a16="http://schemas.microsoft.com/office/drawing/2014/main" id="{88B6240A-77E0-4F25-A619-35F9C346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判断标准：产品外形应与真实动作保持一致。</a:t>
            </a:r>
          </a:p>
        </p:txBody>
      </p:sp>
      <p:sp>
        <p:nvSpPr>
          <p:cNvPr id="15" name="page-10">
            <a:extLst xmlns:a="http://schemas.openxmlformats.org/drawingml/2006/main">
              <a:ext uri="{FF2B5EF4-FFF2-40B4-BE49-F238E27FC236}">
                <a16:creationId xmlns:a16="http://schemas.microsoft.com/office/drawing/2014/main" id="{9B92AE9E-96FA-42D3-BB0A-E7932D3D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35356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bed7e7a944a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10">
            <a:extLst xmlns:a="http://schemas.openxmlformats.org/drawingml/2006/main">
              <a:ext uri="{FF2B5EF4-FFF2-40B4-BE49-F238E27FC236}">
                <a16:creationId xmlns:a16="http://schemas.microsoft.com/office/drawing/2014/main" id="{3A604B53-DCE5-4F9A-A4C8-999198E3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C1DE4AE4-2FBC-4727-809C-2B6D51E9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设计步骤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2160FDCE-12E8-46D5-BEFD-5C2B5680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从信息到形态</a:t>
            </a:r>
          </a:p>
        </p:txBody>
      </p:sp>
      <p:cxnSp>
        <p:nvCxnSpPr>
          <p:cNvPr id="26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sp>
        <p:nvSpPr>
          <p:cNvPr id="6" name="step-num-0">
            <a:extLst xmlns:a="http://schemas.openxmlformats.org/drawingml/2006/main">
              <a:ext uri="{FF2B5EF4-FFF2-40B4-BE49-F238E27FC236}">
                <a16:creationId xmlns:a16="http://schemas.microsoft.com/office/drawing/2014/main" id="{8AA4FE48-D1E5-474D-AB7C-50951014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step-head-0">
            <a:extLst xmlns:a="http://schemas.openxmlformats.org/drawingml/2006/main">
              <a:ext uri="{FF2B5EF4-FFF2-40B4-BE49-F238E27FC236}">
                <a16:creationId xmlns:a16="http://schemas.microsoft.com/office/drawing/2014/main" id="{6EA06F83-0F43-4D7C-8044-86396461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352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定义信息</a:t>
            </a:r>
          </a:p>
        </p:txBody>
      </p:sp>
      <p:sp>
        <p:nvSpPr>
          <p:cNvPr id="8" name="step-body-0">
            <a:extLst xmlns:a="http://schemas.openxmlformats.org/drawingml/2006/main">
              <a:ext uri="{FF2B5EF4-FFF2-40B4-BE49-F238E27FC236}">
                <a16:creationId xmlns:a16="http://schemas.microsoft.com/office/drawing/2014/main" id="{6A69305F-28EF-43C1-B80E-5C62D44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716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先确定产品需要说明的动作、状态或风险。</a:t>
            </a:r>
          </a:p>
        </p:txBody>
      </p:sp>
      <p:cxnSp>
        <p:nvCxnSpPr>
          <p:cNvPr id="30" name="line"/>
          <p:cNvCxnSpPr/>
          <p:nvPr/>
        </p:nvCxnSpPr>
        <p:spPr>
          <a:xfrm xmlns:a="http://schemas.openxmlformats.org/drawingml/2006/main">
            <a:off x="1657350" y="2057400"/>
            <a:ext cx="9467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10" name="step-num-1">
            <a:extLst xmlns:a="http://schemas.openxmlformats.org/drawingml/2006/main">
              <a:ext uri="{FF2B5EF4-FFF2-40B4-BE49-F238E27FC236}">
                <a16:creationId xmlns:a16="http://schemas.microsoft.com/office/drawing/2014/main" id="{6C0C592B-C0F3-47D1-9496-B40C157E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step-head-1">
            <a:extLst xmlns:a="http://schemas.openxmlformats.org/drawingml/2006/main">
              <a:ext uri="{FF2B5EF4-FFF2-40B4-BE49-F238E27FC236}">
                <a16:creationId xmlns:a16="http://schemas.microsoft.com/office/drawing/2014/main" id="{CBE341E1-127A-443A-A0BB-ED37D6BD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选择线索</a:t>
            </a:r>
          </a:p>
        </p:txBody>
      </p:sp>
      <p:sp>
        <p:nvSpPr>
          <p:cNvPr id="12" name="step-body-1">
            <a:extLst xmlns:a="http://schemas.openxmlformats.org/drawingml/2006/main">
              <a:ext uri="{FF2B5EF4-FFF2-40B4-BE49-F238E27FC236}">
                <a16:creationId xmlns:a16="http://schemas.microsoft.com/office/drawing/2014/main" id="{37B0F7A2-A11E-4B69-BE7E-4E8C928B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用轮廓、位置、材质和颜色表达这些信息。</a:t>
            </a:r>
          </a:p>
        </p:txBody>
      </p:sp>
      <p:cxnSp>
        <p:nvCxnSpPr>
          <p:cNvPr id="34" name="line"/>
          <p:cNvCxnSpPr/>
          <p:nvPr/>
        </p:nvCxnSpPr>
        <p:spPr>
          <a:xfrm xmlns:a="http://schemas.openxmlformats.org/drawingml/2006/main">
            <a:off x="1657350" y="3276600"/>
            <a:ext cx="9467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14" name="step-num-2">
            <a:extLst xmlns:a="http://schemas.openxmlformats.org/drawingml/2006/main">
              <a:ext uri="{FF2B5EF4-FFF2-40B4-BE49-F238E27FC236}">
                <a16:creationId xmlns:a16="http://schemas.microsoft.com/office/drawing/2014/main" id="{98BE9862-AD65-41D2-BCCB-2E132559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4FFDE7E9-B714-4EB2-8FF6-8E951C29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制作样机</a:t>
            </a:r>
          </a:p>
        </p:txBody>
      </p:sp>
      <p:sp>
        <p:nvSpPr>
          <p:cNvPr id="1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C7DD9A34-E36C-456E-87BF-3E40D0BE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观察用户第一眼如何理解和操作。</a:t>
            </a:r>
          </a:p>
        </p:txBody>
      </p:sp>
      <p:cxnSp>
        <p:nvCxnSpPr>
          <p:cNvPr id="38" name="line"/>
          <p:cNvCxnSpPr/>
          <p:nvPr/>
        </p:nvCxnSpPr>
        <p:spPr>
          <a:xfrm xmlns:a="http://schemas.openxmlformats.org/drawingml/2006/main">
            <a:off x="1657350" y="4495800"/>
            <a:ext cx="9467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18" name="step-num-3">
            <a:extLst xmlns:a="http://schemas.openxmlformats.org/drawingml/2006/main">
              <a:ext uri="{FF2B5EF4-FFF2-40B4-BE49-F238E27FC236}">
                <a16:creationId xmlns:a16="http://schemas.microsoft.com/office/drawing/2014/main" id="{5F18DFD6-3A54-4076-A64C-873A159B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step-head-3">
            <a:extLst xmlns:a="http://schemas.openxmlformats.org/drawingml/2006/main">
              <a:ext uri="{FF2B5EF4-FFF2-40B4-BE49-F238E27FC236}">
                <a16:creationId xmlns:a16="http://schemas.microsoft.com/office/drawing/2014/main" id="{8F5570A6-716D-4E48-8203-780498BE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10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去掉文字验证</a:t>
            </a:r>
          </a:p>
        </p:txBody>
      </p:sp>
      <p:sp>
        <p:nvSpPr>
          <p:cNvPr id="20" name="step-body-3">
            <a:extLst xmlns:a="http://schemas.openxmlformats.org/drawingml/2006/main">
              <a:ext uri="{FF2B5EF4-FFF2-40B4-BE49-F238E27FC236}">
                <a16:creationId xmlns:a16="http://schemas.microsoft.com/office/drawing/2014/main" id="{7D9F6D14-E6F1-4E4A-B9DE-466D173B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隐藏标签，再检查功能是否仍然清楚。</a:t>
            </a:r>
          </a:p>
        </p:txBody>
      </p:sp>
      <p:sp>
        <p:nvSpPr>
          <p:cNvPr id="21" name="page-11">
            <a:extLst xmlns:a="http://schemas.openxmlformats.org/drawingml/2006/main">
              <a:ext uri="{FF2B5EF4-FFF2-40B4-BE49-F238E27FC236}">
                <a16:creationId xmlns:a16="http://schemas.microsoft.com/office/drawing/2014/main" id="{07D56CD3-E85D-4887-84E5-6A564832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11876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ac49564e24d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nd-en">
            <a:extLst xmlns:a="http://schemas.openxmlformats.org/drawingml/2006/main">
              <a:ext uri="{FF2B5EF4-FFF2-40B4-BE49-F238E27FC236}">
                <a16:creationId xmlns:a16="http://schemas.microsoft.com/office/drawing/2014/main" id="{EE82FB4B-2798-4E91-B1A7-76C7E5C0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CONCLUSION</a:t>
            </a:r>
          </a:p>
        </p:txBody>
      </p:sp>
      <p:sp>
        <p:nvSpPr>
          <p:cNvPr id="3" name="end-title">
            <a:extLst xmlns:a="http://schemas.openxmlformats.org/drawingml/2006/main">
              <a:ext uri="{FF2B5EF4-FFF2-40B4-BE49-F238E27FC236}">
                <a16:creationId xmlns:a16="http://schemas.microsoft.com/office/drawing/2014/main" id="{7F406818-86F0-422B-BBD2-1A8DA4BF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4" name="end-num-0">
            <a:extLst xmlns:a="http://schemas.openxmlformats.org/drawingml/2006/main">
              <a:ext uri="{FF2B5EF4-FFF2-40B4-BE49-F238E27FC236}">
                <a16:creationId xmlns:a16="http://schemas.microsoft.com/office/drawing/2014/main" id="{C2E2458E-5F49-4BBC-BDB6-F4EDD0FA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end-text-0">
            <a:extLst xmlns:a="http://schemas.openxmlformats.org/drawingml/2006/main">
              <a:ext uri="{FF2B5EF4-FFF2-40B4-BE49-F238E27FC236}">
                <a16:creationId xmlns:a16="http://schemas.microsoft.com/office/drawing/2014/main" id="{0C2EC0A5-563C-47AB-9A0B-F9ACF3A8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479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形态首先说明哪里可以操作。</a:t>
            </a:r>
          </a:p>
        </p:txBody>
      </p:sp>
      <p:sp>
        <p:nvSpPr>
          <p:cNvPr id="6" name="end-num-1">
            <a:extLst xmlns:a="http://schemas.openxmlformats.org/drawingml/2006/main">
              <a:ext uri="{FF2B5EF4-FFF2-40B4-BE49-F238E27FC236}">
                <a16:creationId xmlns:a16="http://schemas.microsoft.com/office/drawing/2014/main" id="{C260DE2D-CDF8-4A1F-9AEA-45D9E613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end-text-1">
            <a:extLst xmlns:a="http://schemas.openxmlformats.org/drawingml/2006/main">
              <a:ext uri="{FF2B5EF4-FFF2-40B4-BE49-F238E27FC236}">
                <a16:creationId xmlns:a16="http://schemas.microsoft.com/office/drawing/2014/main" id="{6988233F-238A-429B-93CD-46799125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908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接触方式提示推、拉、握、转等动作。</a:t>
            </a:r>
          </a:p>
        </p:txBody>
      </p:sp>
      <p:sp>
        <p:nvSpPr>
          <p:cNvPr id="8" name="end-num-2">
            <a:extLst xmlns:a="http://schemas.openxmlformats.org/drawingml/2006/main">
              <a:ext uri="{FF2B5EF4-FFF2-40B4-BE49-F238E27FC236}">
                <a16:creationId xmlns:a16="http://schemas.microsoft.com/office/drawing/2014/main" id="{B147E27C-455A-44F2-AED9-51664B1A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9" name="end-text-2">
            <a:extLst xmlns:a="http://schemas.openxmlformats.org/drawingml/2006/main">
              <a:ext uri="{FF2B5EF4-FFF2-40B4-BE49-F238E27FC236}">
                <a16:creationId xmlns:a16="http://schemas.microsoft.com/office/drawing/2014/main" id="{CEDC36E4-A11D-4392-ADC1-7E66C184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338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控制方向应与结果变化保持一致。</a:t>
            </a:r>
          </a:p>
        </p:txBody>
      </p:sp>
      <p:sp>
        <p:nvSpPr>
          <p:cNvPr id="10" name="end-num-3">
            <a:extLst xmlns:a="http://schemas.openxmlformats.org/drawingml/2006/main">
              <a:ext uri="{FF2B5EF4-FFF2-40B4-BE49-F238E27FC236}">
                <a16:creationId xmlns:a16="http://schemas.microsoft.com/office/drawing/2014/main" id="{E25E37DE-1E40-4240-8F4C-99180190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" name="end-text-3">
            <a:extLst xmlns:a="http://schemas.openxmlformats.org/drawingml/2006/main">
              <a:ext uri="{FF2B5EF4-FFF2-40B4-BE49-F238E27FC236}">
                <a16:creationId xmlns:a16="http://schemas.microsoft.com/office/drawing/2014/main" id="{07652E81-9B29-4FAD-8F26-C4D4B9E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高风险信息需要更强的视觉和结构提示。</a:t>
            </a:r>
          </a:p>
        </p:txBody>
      </p:sp>
      <p:sp>
        <p:nvSpPr>
          <p:cNvPr id="12" name="end-course">
            <a:extLst xmlns:a="http://schemas.openxmlformats.org/drawingml/2006/main">
              <a:ext uri="{FF2B5EF4-FFF2-40B4-BE49-F238E27FC236}">
                <a16:creationId xmlns:a16="http://schemas.microsoft.com/office/drawing/2014/main" id="{4281D68D-AF9A-4545-B913-7192D8E1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产品形态语义设计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aae4fb9fe45d5"/>
          <a:stretch xmlns:a="http://schemas.openxmlformats.org/drawingml/2006/main"/>
        </p:blipFill>
        <p:spPr>
          <a:xfrm xmlns:a="http://schemas.openxmlformats.org/drawingml/2006/main">
            <a:off x="7239000" y="773376"/>
            <a:ext cx="4762500" cy="5444597"/>
          </a:xfrm>
          <a:prstGeom xmlns:a="http://schemas.openxmlformats.org/drawingml/2006/main" prst="rect">
            <a:avLst/>
          </a:prstGeom>
        </p:spPr>
      </p:pic>
      <p:sp>
        <p:nvSpPr>
          <p:cNvPr id="14" name="page-12">
            <a:extLst xmlns:a="http://schemas.openxmlformats.org/drawingml/2006/main">
              <a:ext uri="{FF2B5EF4-FFF2-40B4-BE49-F238E27FC236}">
                <a16:creationId xmlns:a16="http://schemas.microsoft.com/office/drawing/2014/main" id="{D031251E-4F7B-4D04-A859-F692181C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5823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2026-09-06T06:27:02.5390000Z</dcterms:created>
  <dcterms:modified xsi:type="dcterms:W3CDTF">2026-09-06T06:27:02.5390000Z</dcterms:modified>
</coreProperties>
</file>
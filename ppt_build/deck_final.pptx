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4f4e6e346c4264" /><Relationship Type="http://schemas.openxmlformats.org/officeDocument/2006/relationships/extended-properties" Target="/docProps/app.xml" Id="Ree5392ba389f41a2" /><Relationship Type="http://schemas.openxmlformats.org/officeDocument/2006/relationships/officeDocument" Target="/ppt/presentation.xml" Id="R0be4a73773da48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0fc68ddb4a4e84"/>
  </p:sldMasterIdLst>
  <p:notesMasterIdLst>
    <p:notesMasterId xmlns:r="http://schemas.openxmlformats.org/officeDocument/2006/relationships" r:id="Rdadf32c9adb24434"/>
  </p:notesMasterIdLst>
  <p:sldIdLst>
    <p:sldId xmlns:r="http://schemas.openxmlformats.org/officeDocument/2006/relationships" id="256" r:id="Rca161ffe10da4972"/>
    <p:sldId xmlns:r="http://schemas.openxmlformats.org/officeDocument/2006/relationships" id="257" r:id="R851b7fdbe9694214"/>
    <p:sldId xmlns:r="http://schemas.openxmlformats.org/officeDocument/2006/relationships" id="258" r:id="R0d2372f95e474e69"/>
    <p:sldId xmlns:r="http://schemas.openxmlformats.org/officeDocument/2006/relationships" id="259" r:id="R460c03bf53244e14"/>
    <p:sldId xmlns:r="http://schemas.openxmlformats.org/officeDocument/2006/relationships" id="260" r:id="Ra898baae62bf4967"/>
    <p:sldId xmlns:r="http://schemas.openxmlformats.org/officeDocument/2006/relationships" id="261" r:id="R11060c1c4e474ab9"/>
    <p:sldId xmlns:r="http://schemas.openxmlformats.org/officeDocument/2006/relationships" id="262" r:id="R1e3d6a284f584456"/>
    <p:sldId xmlns:r="http://schemas.openxmlformats.org/officeDocument/2006/relationships" id="263" r:id="R1c4eee9d4e424899"/>
    <p:sldId xmlns:r="http://schemas.openxmlformats.org/officeDocument/2006/relationships" id="264" r:id="Ra42aab936f024aa1"/>
    <p:sldId xmlns:r="http://schemas.openxmlformats.org/officeDocument/2006/relationships" id="265" r:id="R53ba78c159264801"/>
    <p:sldId xmlns:r="http://schemas.openxmlformats.org/officeDocument/2006/relationships" id="266" r:id="R67cba3ef3a9343ac"/>
    <p:sldId xmlns:r="http://schemas.openxmlformats.org/officeDocument/2006/relationships" id="267" r:id="Rb35ddd1db98e46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58668984da46d9" /><Relationship Type="http://schemas.openxmlformats.org/officeDocument/2006/relationships/slideMaster" Target="/ppt/slideMasters/slideMaster1.xml" Id="R420fc68ddb4a4e84" /><Relationship Type="http://schemas.openxmlformats.org/officeDocument/2006/relationships/notesMaster" Target="/ppt/notesMasters/notesMaster1.xml" Id="Rdadf32c9adb24434" /><Relationship Type="http://schemas.openxmlformats.org/officeDocument/2006/relationships/presProps" Target="/ppt/presProps.xml" Id="R943f9cc1460b4385" /><Relationship Type="http://schemas.openxmlformats.org/officeDocument/2006/relationships/tableStyles" Target="/ppt/tableStyles.xml" Id="R534656fbcc924a9e" /><Relationship Type="http://schemas.openxmlformats.org/officeDocument/2006/relationships/slide" Target="/ppt/slides/slide1.xml" Id="Rca161ffe10da4972" /><Relationship Type="http://schemas.openxmlformats.org/officeDocument/2006/relationships/slide" Target="/ppt/slides/slide2.xml" Id="R851b7fdbe9694214" /><Relationship Type="http://schemas.openxmlformats.org/officeDocument/2006/relationships/slide" Target="/ppt/slides/slide3.xml" Id="R0d2372f95e474e69" /><Relationship Type="http://schemas.openxmlformats.org/officeDocument/2006/relationships/slide" Target="/ppt/slides/slide4.xml" Id="R460c03bf53244e14" /><Relationship Type="http://schemas.openxmlformats.org/officeDocument/2006/relationships/slide" Target="/ppt/slides/slide5.xml" Id="Ra898baae62bf4967" /><Relationship Type="http://schemas.openxmlformats.org/officeDocument/2006/relationships/slide" Target="/ppt/slides/slide6.xml" Id="R11060c1c4e474ab9" /><Relationship Type="http://schemas.openxmlformats.org/officeDocument/2006/relationships/slide" Target="/ppt/slides/slide7.xml" Id="R1e3d6a284f584456" /><Relationship Type="http://schemas.openxmlformats.org/officeDocument/2006/relationships/slide" Target="/ppt/slides/slide8.xml" Id="R1c4eee9d4e424899" /><Relationship Type="http://schemas.openxmlformats.org/officeDocument/2006/relationships/slide" Target="/ppt/slides/slide9.xml" Id="Ra42aab936f024aa1" /><Relationship Type="http://schemas.openxmlformats.org/officeDocument/2006/relationships/slide" Target="/ppt/slides/slide10.xml" Id="R53ba78c159264801" /><Relationship Type="http://schemas.openxmlformats.org/officeDocument/2006/relationships/slide" Target="/ppt/slides/slide11.xml" Id="R67cba3ef3a9343ac" /><Relationship Type="http://schemas.openxmlformats.org/officeDocument/2006/relationships/slide" Target="/ppt/slides/slide12.xml" Id="Rb35ddd1db98e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4cf6c548e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415d81801b4ab9" /><Relationship Type="http://schemas.openxmlformats.org/officeDocument/2006/relationships/notesMaster" Target="/ppt/notesMasters/notesMaster1.xml" Id="Rc18884cde72443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fc08b974d645f8" /><Relationship Type="http://schemas.openxmlformats.org/officeDocument/2006/relationships/notesMaster" Target="/ppt/notesMasters/notesMaster1.xml" Id="R2975af8f51814d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be1b6c4f124987" /><Relationship Type="http://schemas.openxmlformats.org/officeDocument/2006/relationships/notesMaster" Target="/ppt/notesMasters/notesMaster1.xml" Id="R90f843d5150e43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ad24ff75b642ac" /><Relationship Type="http://schemas.openxmlformats.org/officeDocument/2006/relationships/notesMaster" Target="/ppt/notesMasters/notesMaster1.xml" Id="R501edcc3f9c245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c9ff7af32e472f" /><Relationship Type="http://schemas.openxmlformats.org/officeDocument/2006/relationships/notesMaster" Target="/ppt/notesMasters/notesMaster1.xml" Id="R145425be564c40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09fa9853f7472b" /><Relationship Type="http://schemas.openxmlformats.org/officeDocument/2006/relationships/notesMaster" Target="/ppt/notesMasters/notesMaster1.xml" Id="R363424e1bf8645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a14dd6d72e4791" /><Relationship Type="http://schemas.openxmlformats.org/officeDocument/2006/relationships/notesMaster" Target="/ppt/notesMasters/notesMaster1.xml" Id="Rbc617479967043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3589ac535c440d" /><Relationship Type="http://schemas.openxmlformats.org/officeDocument/2006/relationships/notesMaster" Target="/ppt/notesMasters/notesMaster1.xml" Id="R2fb7b2d2f1394a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ca097632e84897" /><Relationship Type="http://schemas.openxmlformats.org/officeDocument/2006/relationships/notesMaster" Target="/ppt/notesMasters/notesMaster1.xml" Id="Re204c6e71c9041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408f5630bc4fe0" /><Relationship Type="http://schemas.openxmlformats.org/officeDocument/2006/relationships/notesMaster" Target="/ppt/notesMasters/notesMaster1.xml" Id="Rb912a623b4ce42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d8b3014e244817" /><Relationship Type="http://schemas.openxmlformats.org/officeDocument/2006/relationships/notesMaster" Target="/ppt/notesMasters/notesMaster1.xml" Id="Re90a026b64df4b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93b1e07bab45e4" /><Relationship Type="http://schemas.openxmlformats.org/officeDocument/2006/relationships/notesMaster" Target="/ppt/notesMasters/notesMaster1.xml" Id="R74af07d8bafe47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开场：我们经常在读到文字之前，就已经根据产品形态做出了动作判断。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synthesis; no external visual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强调形态语义不是装饰风格，而是用户在接触产品时读到的第一层信息。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用三个问题建立后续四个案例的统一分析框架。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四类不是按行业分，而是按形态需要传递的核心信息来分。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classification for this course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按‘可见细节—传递信息—用户动作’顺序讲解。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OpenAI-generated visual asset: door.png.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按‘可见细节—传递信息—用户动作’顺序讲解。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OpenAI-generated visual asset: kettle.png.</a:t>
            </a:r>
          </a:p>
          <a:p xmlns:a="http://schemas.openxmlformats.org/drawingml/2006/main">
            <a:r>
              <a:t>- Original visual analysis of a generic everyday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按‘可见细节—传递信息—用户动作’顺序讲解。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OpenAI-generated visual asset: knob.png.</a:t>
            </a:r>
          </a:p>
          <a:p xmlns:a="http://schemas.openxmlformats.org/drawingml/2006/main">
            <a:r>
              <a:t>- Original visual analysis of a generic rotary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按‘可见细节—传递信息—用户动作’顺序讲解。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OpenAI-generated visual asset: emergency.png.</a:t>
            </a:r>
          </a:p>
          <a:p xmlns:a="http://schemas.openxmlformats.org/drawingml/2006/main">
            <a:r>
              <a:t>- ISO 3864-1:2011: https://www.iso.org/standard/51021.html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横向比较四个案例，指出有效语义的共同机制是多线索一致。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IEC/ISO symbols general description: https://webstore.iec.ch/en/iec_catalog/product/preview/?id=L3B1Yi9wZGYvcHJldmlldy9pbmZvX2llYzYwNDE3e2VkMS4wfWIucGRm</a:t>
            </a:r>
          </a:p>
          <a:p xmlns:a="http://schemas.openxmlformats.org/drawingml/2006/main">
            <a:r>
              <a:t>- ISO 3864-1:2011: https://www.iso.org/standard/51021.html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反例页用于把‘形态语义’转化为可评价的设计准则。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把案例分析收束为一个可复用的三步设计方法。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Nielsen Norman Group: https://www.nngroup.com/articles/clickable-elements/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结束时回到开场问题，并邀请同学用同一框架寻找新的案例。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synthesis based on the preceding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e4c69fec74a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00282f4a644b3e" /><Relationship Type="http://schemas.openxmlformats.org/officeDocument/2006/relationships/slideLayout" Target="/ppt/slideLayouts/slideLayout1.xml" Id="Rb792a716870a4f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2a716870a4f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ff0fa3f2c45b8" /><Relationship Type="http://schemas.openxmlformats.org/officeDocument/2006/relationships/notesSlide" Target="/ppt/notesSlides/notesSlide1.xml" Id="R0a12f2b74a1843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fbbd744674875" /><Relationship Type="http://schemas.openxmlformats.org/officeDocument/2006/relationships/notesSlide" Target="/ppt/notesSlides/notesSlide2.xml" Id="Rf5411ae093d542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8554fd8da4f00" /><Relationship Type="http://schemas.openxmlformats.org/officeDocument/2006/relationships/notesSlide" Target="/ppt/notesSlides/notesSlide3.xml" Id="Rd5f394394a3a4a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a24e5e69840b7" /><Relationship Type="http://schemas.openxmlformats.org/officeDocument/2006/relationships/notesSlide" Target="/ppt/notesSlides/notesSlide4.xml" Id="R5ed84af2383e45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6e63475bc42ef" /><Relationship Type="http://schemas.openxmlformats.org/officeDocument/2006/relationships/image" Target="/ppt/media/image.png" Id="R3f003e241b854366" /><Relationship Type="http://schemas.openxmlformats.org/officeDocument/2006/relationships/notesSlide" Target="/ppt/notesSlides/notesSlide5.xml" Id="Read73897fbcd4a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b5c9cb72d4f47" /><Relationship Type="http://schemas.openxmlformats.org/officeDocument/2006/relationships/image" Target="/ppt/media/image2.png" Id="R2c4ba754a8864d3c" /><Relationship Type="http://schemas.openxmlformats.org/officeDocument/2006/relationships/notesSlide" Target="/ppt/notesSlides/notesSlide6.xml" Id="R85f3d68eaee04c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9806b066c489e" /><Relationship Type="http://schemas.openxmlformats.org/officeDocument/2006/relationships/image" Target="/ppt/media/image3.png" Id="R0bce0d46e0c44fc2" /><Relationship Type="http://schemas.openxmlformats.org/officeDocument/2006/relationships/notesSlide" Target="/ppt/notesSlides/notesSlide7.xml" Id="R09bf8490e4b74c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6590c41f94c9b" /><Relationship Type="http://schemas.openxmlformats.org/officeDocument/2006/relationships/image" Target="/ppt/media/image4.png" Id="R3344a15489284ad0" /><Relationship Type="http://schemas.openxmlformats.org/officeDocument/2006/relationships/notesSlide" Target="/ppt/notesSlides/notesSlide8.xml" Id="R48b85aacf94546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e9a130bdf44bf" /><Relationship Type="http://schemas.openxmlformats.org/officeDocument/2006/relationships/notesSlide" Target="/ppt/notesSlides/notesSlide9.xml" Id="R1f4ee0bb75dd45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ef4e1219545e0" /><Relationship Type="http://schemas.openxmlformats.org/officeDocument/2006/relationships/notesSlide" Target="/ppt/notesSlides/notesSlide10.xml" Id="R919348c91b3f44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76a54e1284ce2" /><Relationship Type="http://schemas.openxmlformats.org/officeDocument/2006/relationships/notesSlide" Target="/ppt/notesSlides/notesSlide11.xml" Id="R5355c43e886e41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a7f539a804877" /><Relationship Type="http://schemas.openxmlformats.org/officeDocument/2006/relationships/notesSlide" Target="/ppt/notesSlides/notesSlide12.xml" Id="Rdd1d4cb4ef0144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bar">
            <a:extLst xmlns:a="http://schemas.openxmlformats.org/drawingml/2006/main">
              <a:ext uri="{FF2B5EF4-FFF2-40B4-BE49-F238E27FC236}">
                <a16:creationId xmlns:a16="http://schemas.microsoft.com/office/drawing/2014/main" id="{C2B266AC-EDEE-4E21-B614-84D68E7B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5676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">
            <a:extLst xmlns:a="http://schemas.openxmlformats.org/drawingml/2006/main">
              <a:ext uri="{FF2B5EF4-FFF2-40B4-BE49-F238E27FC236}">
                <a16:creationId xmlns:a16="http://schemas.microsoft.com/office/drawing/2014/main" id="{9FA4B92E-0A3B-4A26-99DA-CF693BF5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3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F5081476-96DA-4BDC-8910-44CDBAC1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形态会说话</a:t>
            </a:r>
          </a:p>
        </p:txBody>
      </p:sp>
      <p:sp>
        <p:nvSpPr>
          <p:cNvPr id="4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19F6914D-C0FE-4B45-8321-39F7510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4类日常产品中的信息传递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8B15BEB-645A-4432-B552-8F8A84F5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从动作暗示、方向映射到安全警示</a:t>
            </a:r>
          </a:p>
        </p:txBody>
      </p:sp>
      <p:sp>
        <p:nvSpPr>
          <p:cNvPr id="6" name="presenter">
            <a:extLst xmlns:a="http://schemas.openxmlformats.org/drawingml/2006/main">
              <a:ext uri="{FF2B5EF4-FFF2-40B4-BE49-F238E27FC236}">
                <a16:creationId xmlns:a16="http://schemas.microsoft.com/office/drawing/2014/main" id="{DCDFAB90-C5B2-4ADA-92D1-91CC8BDF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课程汇报  ·  汇报人：________</a:t>
            </a:r>
          </a:p>
        </p:txBody>
      </p:sp>
    </p:spTree>
    <p:extLst>
      <p:ext uri="{BB962C8B-B14F-4D97-AF65-F5344CB8AC3E}">
        <p14:creationId xmlns:p14="http://schemas.microsoft.com/office/powerpoint/2010/main" val="98917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B2961891-EA94-4B62-87F4-8C1DC1B5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核心观点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6CE1CF1-A626-4B8B-9C78-B03E812F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形态是界面的第一层语言</a:t>
            </a:r>
          </a:p>
        </p:txBody>
      </p:sp>
      <p:cxnSp>
        <p:nvCxnSpPr>
          <p:cNvPr id="13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A33D7B97-11C6-4610-BE91-FC84AC24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“看起来怎么用”</a:t>
            </a:r>
          </a:p>
          <a:p xmlns:a="http://schemas.openxmlformats.org/drawingml/2006/main">
            <a:pPr algn="l">
              <a:defRPr sz="42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往往先于“说明它怎么用”</a:t>
            </a:r>
          </a:p>
        </p:txBody>
      </p:sp>
      <p:sp>
        <p:nvSpPr>
          <p:cNvPr id="5" name="semantic-circle">
            <a:extLst xmlns:a="http://schemas.openxmlformats.org/drawingml/2006/main">
              <a:ext uri="{FF2B5EF4-FFF2-40B4-BE49-F238E27FC236}">
                <a16:creationId xmlns:a16="http://schemas.microsoft.com/office/drawing/2014/main" id="{529EFFF8-B463-4236-9BC4-12C27A82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2914650" cy="2914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rm-char">
            <a:extLst xmlns:a="http://schemas.openxmlformats.org/drawingml/2006/main">
              <a:ext uri="{FF2B5EF4-FFF2-40B4-BE49-F238E27FC236}">
                <a16:creationId xmlns:a16="http://schemas.microsoft.com/office/drawing/2014/main" id="{AF8D0305-DC57-4EFA-9352-2CCA8496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2914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形</a:t>
            </a:r>
          </a:p>
        </p:txBody>
      </p:sp>
      <p:sp>
        <p:nvSpPr>
          <p:cNvPr id="7" name="semantic-list">
            <a:extLst xmlns:a="http://schemas.openxmlformats.org/drawingml/2006/main">
              <a:ext uri="{FF2B5EF4-FFF2-40B4-BE49-F238E27FC236}">
                <a16:creationId xmlns:a16="http://schemas.microsoft.com/office/drawing/2014/main" id="{9D8992C5-E8AB-400C-9F35-150175D9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2914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动作暗示</a:t>
            </a:r>
          </a:p>
          <a:p xmlns:a="http://schemas.openxmlformats.org/drawingml/2006/main">
            <a:pPr algn="ctr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方向映射</a:t>
            </a:r>
          </a:p>
          <a:p xmlns:a="http://schemas.openxmlformats.org/drawingml/2006/main">
            <a:pPr algn="ctr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状态反馈</a:t>
            </a:r>
          </a:p>
          <a:p xmlns:a="http://schemas.openxmlformats.org/drawingml/2006/main">
            <a:pPr algn="ctr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风险等级</a:t>
            </a:r>
          </a:p>
        </p:txBody>
      </p:sp>
      <p:sp>
        <p:nvSpPr>
          <p:cNvPr id="8" name="thesis-caption">
            <a:extLst xmlns:a="http://schemas.openxmlformats.org/drawingml/2006/main">
              <a:ext uri="{FF2B5EF4-FFF2-40B4-BE49-F238E27FC236}">
                <a16:creationId xmlns:a16="http://schemas.microsoft.com/office/drawing/2014/main" id="{DF265C29-210B-47B9-AD00-64489650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产品的轮廓、尺寸、位置、材质和颜色，共同构成可感知的“符号”。</a:t>
            </a:r>
          </a:p>
        </p:txBody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A87A3E52-FB87-4A8E-9EF0-820B650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10" name="page-2">
            <a:extLst xmlns:a="http://schemas.openxmlformats.org/drawingml/2006/main">
              <a:ext uri="{FF2B5EF4-FFF2-40B4-BE49-F238E27FC236}">
                <a16:creationId xmlns:a16="http://schemas.microsoft.com/office/drawing/2014/main" id="{A18A6FF9-3BF8-412A-A832-4D5222B3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8410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3">
            <a:extLst xmlns:a="http://schemas.openxmlformats.org/drawingml/2006/main">
              <a:ext uri="{FF2B5EF4-FFF2-40B4-BE49-F238E27FC236}">
                <a16:creationId xmlns:a16="http://schemas.microsoft.com/office/drawing/2014/main" id="{1F93F715-3D6D-4E72-BC6A-4D44CC7F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认知路径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483F558-F6FF-466B-B6B1-263C5483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用户会先做三个判断</a:t>
            </a:r>
          </a:p>
        </p:txBody>
      </p:sp>
      <p:cxnSp>
        <p:nvCxnSpPr>
          <p:cNvPr id="19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0" name="rule"/>
          <p:cNvCxnSpPr/>
          <p:nvPr/>
        </p:nvCxnSpPr>
        <p:spPr>
          <a:xfrm xmlns:a="http://schemas.openxmlformats.org/drawingml/2006/main">
            <a:off x="990600" y="32385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0D12"/>
            </a:solidFill>
            <a:prstDash val="solid"/>
          </a:ln>
        </p:spPr>
      </p:cxnSp>
      <p:sp>
        <p:nvSpPr>
          <p:cNvPr id="5" name="node-0">
            <a:extLst xmlns:a="http://schemas.openxmlformats.org/drawingml/2006/main">
              <a:ext uri="{FF2B5EF4-FFF2-40B4-BE49-F238E27FC236}">
                <a16:creationId xmlns:a16="http://schemas.microsoft.com/office/drawing/2014/main" id="{E6730665-E73E-448F-B208-89643218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0">
            <a:extLst xmlns:a="http://schemas.openxmlformats.org/drawingml/2006/main">
              <a:ext uri="{FF2B5EF4-FFF2-40B4-BE49-F238E27FC236}">
                <a16:creationId xmlns:a16="http://schemas.microsoft.com/office/drawing/2014/main" id="{638517F4-742B-4E17-A0DD-E1B901D3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01  能不能操作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6EE2D79B-18D0-49CF-833D-69B731DB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可触达、可按压、可握持</a:t>
            </a:r>
          </a:p>
        </p:txBody>
      </p:sp>
      <p:sp>
        <p:nvSpPr>
          <p:cNvPr id="8" name="node-1">
            <a:extLst xmlns:a="http://schemas.openxmlformats.org/drawingml/2006/main">
              <a:ext uri="{FF2B5EF4-FFF2-40B4-BE49-F238E27FC236}">
                <a16:creationId xmlns:a16="http://schemas.microsoft.com/office/drawing/2014/main" id="{1CA45F02-A0A6-43F1-90AE-C4E4C258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CA7157CF-CA9A-4A6E-B76A-56482A7F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02  应该怎么操作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CB7F9A9C-2028-408C-A4A0-F18DFDAE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5285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推 / 拉 / 转 / 倾倒</a:t>
            </a:r>
          </a:p>
        </p:txBody>
      </p:sp>
      <p:sp>
        <p:nvSpPr>
          <p:cNvPr id="11" name="node-2">
            <a:extLst xmlns:a="http://schemas.openxmlformats.org/drawingml/2006/main">
              <a:ext uri="{FF2B5EF4-FFF2-40B4-BE49-F238E27FC236}">
                <a16:creationId xmlns:a16="http://schemas.microsoft.com/office/drawing/2014/main" id="{6F86E723-1F5E-4B20-BC80-0709E34C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bel-2">
            <a:extLst xmlns:a="http://schemas.openxmlformats.org/drawingml/2006/main">
              <a:ext uri="{FF2B5EF4-FFF2-40B4-BE49-F238E27FC236}">
                <a16:creationId xmlns:a16="http://schemas.microsoft.com/office/drawing/2014/main" id="{B1A41F63-7BE6-4748-9B43-CB3BC086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03  结果与风险</a:t>
            </a:r>
          </a:p>
        </p:txBody>
      </p:sp>
      <p:sp>
        <p:nvSpPr>
          <p:cNvPr id="13" name="body-2">
            <a:extLst xmlns:a="http://schemas.openxmlformats.org/drawingml/2006/main">
              <a:ext uri="{FF2B5EF4-FFF2-40B4-BE49-F238E27FC236}">
                <a16:creationId xmlns:a16="http://schemas.microsoft.com/office/drawing/2014/main" id="{902EBA8C-A029-4237-BC94-DF22D83A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5285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状态变化、力度边界、安全后果</a:t>
            </a:r>
          </a:p>
        </p:txBody>
      </p:sp>
      <p:sp>
        <p:nvSpPr>
          <p:cNvPr id="14" name="goal">
            <a:extLst xmlns:a="http://schemas.openxmlformats.org/drawingml/2006/main">
              <a:ext uri="{FF2B5EF4-FFF2-40B4-BE49-F238E27FC236}">
                <a16:creationId xmlns:a16="http://schemas.microsoft.com/office/drawing/2014/main" id="{189C4A4E-ECBA-42EE-970C-25F76140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设计目标：让判断连续发生，而不是让用户停下来猜。</a:t>
            </a:r>
          </a:p>
        </p:txBody>
      </p: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C136FB75-E0BD-4D8E-874F-00C6019B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16" name="page-3">
            <a:extLst xmlns:a="http://schemas.openxmlformats.org/drawingml/2006/main">
              <a:ext uri="{FF2B5EF4-FFF2-40B4-BE49-F238E27FC236}">
                <a16:creationId xmlns:a16="http://schemas.microsoft.com/office/drawing/2014/main" id="{E988F4CE-8B24-41D5-B58D-C5590B3B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3794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4">
            <a:extLst xmlns:a="http://schemas.openxmlformats.org/drawingml/2006/main">
              <a:ext uri="{FF2B5EF4-FFF2-40B4-BE49-F238E27FC236}">
                <a16:creationId xmlns:a16="http://schemas.microsoft.com/office/drawing/2014/main" id="{0AA417DF-ADB9-4F54-A8D5-AD03307D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案例地图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8168C82-CE61-4291-8BCF-D3CB3EE3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四类产品，传递四种核心信息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map-num-0">
            <a:extLst xmlns:a="http://schemas.openxmlformats.org/drawingml/2006/main">
              <a:ext uri="{FF2B5EF4-FFF2-40B4-BE49-F238E27FC236}">
                <a16:creationId xmlns:a16="http://schemas.microsoft.com/office/drawing/2014/main" id="{75A7FF3E-EF6F-4D77-8716-A1D9C7C8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map-title-0">
            <a:extLst xmlns:a="http://schemas.openxmlformats.org/drawingml/2006/main">
              <a:ext uri="{FF2B5EF4-FFF2-40B4-BE49-F238E27FC236}">
                <a16:creationId xmlns:a16="http://schemas.microsoft.com/office/drawing/2014/main" id="{2D5633F5-4803-4DE4-9EDF-1E0E2F42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推 / 拉</a:t>
            </a:r>
          </a:p>
        </p:txBody>
      </p:sp>
      <p:sp>
        <p:nvSpPr>
          <p:cNvPr id="6" name="map-product-0">
            <a:extLst xmlns:a="http://schemas.openxmlformats.org/drawingml/2006/main">
              <a:ext uri="{FF2B5EF4-FFF2-40B4-BE49-F238E27FC236}">
                <a16:creationId xmlns:a16="http://schemas.microsoft.com/office/drawing/2014/main" id="{1C426E6E-8BDB-47FE-B135-A8D5FB68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门五金</a:t>
            </a:r>
          </a:p>
        </p:txBody>
      </p:sp>
      <p:sp>
        <p:nvSpPr>
          <p:cNvPr id="7" name="map-body-0">
            <a:extLst xmlns:a="http://schemas.openxmlformats.org/drawingml/2006/main">
              <a:ext uri="{FF2B5EF4-FFF2-40B4-BE49-F238E27FC236}">
                <a16:creationId xmlns:a16="http://schemas.microsoft.com/office/drawing/2014/main" id="{4D5602C0-706B-4213-8D3E-C0A26C41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用接触面积与抓握空间暗示动作</a:t>
            </a:r>
          </a:p>
        </p:txBody>
      </p:sp>
      <p:sp>
        <p:nvSpPr>
          <p:cNvPr id="8" name="map-num-1">
            <a:extLst xmlns:a="http://schemas.openxmlformats.org/drawingml/2006/main">
              <a:ext uri="{FF2B5EF4-FFF2-40B4-BE49-F238E27FC236}">
                <a16:creationId xmlns:a16="http://schemas.microsoft.com/office/drawing/2014/main" id="{981007BC-329D-460F-9BA6-3F3C07F4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map-title-1">
            <a:extLst xmlns:a="http://schemas.openxmlformats.org/drawingml/2006/main">
              <a:ext uri="{FF2B5EF4-FFF2-40B4-BE49-F238E27FC236}">
                <a16:creationId xmlns:a16="http://schemas.microsoft.com/office/drawing/2014/main" id="{A6DEFBC5-5BCC-4C64-8A5A-5753FF5C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握持 / 倾倒</a:t>
            </a:r>
          </a:p>
        </p:txBody>
      </p:sp>
      <p:sp>
        <p:nvSpPr>
          <p:cNvPr id="10" name="map-product-1">
            <a:extLst xmlns:a="http://schemas.openxmlformats.org/drawingml/2006/main">
              <a:ext uri="{FF2B5EF4-FFF2-40B4-BE49-F238E27FC236}">
                <a16:creationId xmlns:a16="http://schemas.microsoft.com/office/drawing/2014/main" id="{A544D91B-908A-4CE2-95F8-F63B66D8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1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电热水壶</a:t>
            </a:r>
          </a:p>
        </p:txBody>
      </p:sp>
      <p:sp>
        <p:nvSpPr>
          <p:cNvPr id="11" name="map-body-1">
            <a:extLst xmlns:a="http://schemas.openxmlformats.org/drawingml/2006/main">
              <a:ext uri="{FF2B5EF4-FFF2-40B4-BE49-F238E27FC236}">
                <a16:creationId xmlns:a16="http://schemas.microsoft.com/office/drawing/2014/main" id="{EA67595A-CDBC-42CA-9F3F-8FFCFC0F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用重心、隔热与方向组织动作链</a:t>
            </a:r>
          </a:p>
        </p:txBody>
      </p:sp>
      <p:sp>
        <p:nvSpPr>
          <p:cNvPr id="12" name="map-num-2">
            <a:extLst xmlns:a="http://schemas.openxmlformats.org/drawingml/2006/main">
              <a:ext uri="{FF2B5EF4-FFF2-40B4-BE49-F238E27FC236}">
                <a16:creationId xmlns:a16="http://schemas.microsoft.com/office/drawing/2014/main" id="{84A31B32-1CE8-4F3E-BB50-69D6A168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map-title-2">
            <a:extLst xmlns:a="http://schemas.openxmlformats.org/drawingml/2006/main">
              <a:ext uri="{FF2B5EF4-FFF2-40B4-BE49-F238E27FC236}">
                <a16:creationId xmlns:a16="http://schemas.microsoft.com/office/drawing/2014/main" id="{F03560CB-753B-4988-953F-F2CFC91B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旋转 / 调节</a:t>
            </a:r>
          </a:p>
        </p:txBody>
      </p:sp>
      <p:sp>
        <p:nvSpPr>
          <p:cNvPr id="14" name="map-product-2">
            <a:extLst xmlns:a="http://schemas.openxmlformats.org/drawingml/2006/main">
              <a:ext uri="{FF2B5EF4-FFF2-40B4-BE49-F238E27FC236}">
                <a16:creationId xmlns:a16="http://schemas.microsoft.com/office/drawing/2014/main" id="{A29741E3-920C-4C13-A04A-BC865BB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控制旋钮</a:t>
            </a:r>
          </a:p>
        </p:txBody>
      </p:sp>
      <p:sp>
        <p:nvSpPr>
          <p:cNvPr id="15" name="map-body-2">
            <a:extLst xmlns:a="http://schemas.openxmlformats.org/drawingml/2006/main">
              <a:ext uri="{FF2B5EF4-FFF2-40B4-BE49-F238E27FC236}">
                <a16:creationId xmlns:a16="http://schemas.microsoft.com/office/drawing/2014/main" id="{999F946B-DF2D-4BD7-9F89-1BF23B10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用纹理、指针与刻度表达连续变化</a:t>
            </a:r>
          </a:p>
        </p:txBody>
      </p:sp>
      <p:sp>
        <p:nvSpPr>
          <p:cNvPr id="16" name="map-num-3">
            <a:extLst xmlns:a="http://schemas.openxmlformats.org/drawingml/2006/main">
              <a:ext uri="{FF2B5EF4-FFF2-40B4-BE49-F238E27FC236}">
                <a16:creationId xmlns:a16="http://schemas.microsoft.com/office/drawing/2014/main" id="{4781E6E2-2D48-4FD5-88B5-DD13DD26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map-title-3">
            <a:extLst xmlns:a="http://schemas.openxmlformats.org/drawingml/2006/main">
              <a:ext uri="{FF2B5EF4-FFF2-40B4-BE49-F238E27FC236}">
                <a16:creationId xmlns:a16="http://schemas.microsoft.com/office/drawing/2014/main" id="{87EE8C0B-FC58-42BC-83EF-05270EE1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19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紧急 / 停止</a:t>
            </a:r>
          </a:p>
        </p:txBody>
      </p:sp>
      <p:sp>
        <p:nvSpPr>
          <p:cNvPr id="18" name="map-product-3">
            <a:extLst xmlns:a="http://schemas.openxmlformats.org/drawingml/2006/main">
              <a:ext uri="{FF2B5EF4-FFF2-40B4-BE49-F238E27FC236}">
                <a16:creationId xmlns:a16="http://schemas.microsoft.com/office/drawing/2014/main" id="{D3855229-3167-4E13-93C5-82B5392A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急停按钮</a:t>
            </a:r>
          </a:p>
        </p:txBody>
      </p:sp>
      <p:sp>
        <p:nvSpPr>
          <p:cNvPr id="19" name="map-body-3">
            <a:extLst xmlns:a="http://schemas.openxmlformats.org/drawingml/2006/main">
              <a:ext uri="{FF2B5EF4-FFF2-40B4-BE49-F238E27FC236}">
                <a16:creationId xmlns:a16="http://schemas.microsoft.com/office/drawing/2014/main" id="{D40C6E91-6F73-469C-92B0-CDF1AFBA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577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用体量、颜色与防护结构编码风险</a:t>
            </a:r>
          </a:p>
        </p:txBody>
      </p:sp>
      <p:sp>
        <p:nvSpPr>
          <p:cNvPr id="20" name="footer-4">
            <a:extLst xmlns:a="http://schemas.openxmlformats.org/drawingml/2006/main">
              <a:ext uri="{FF2B5EF4-FFF2-40B4-BE49-F238E27FC236}">
                <a16:creationId xmlns:a16="http://schemas.microsoft.com/office/drawing/2014/main" id="{4F36E929-E113-4549-ADA4-6A791DD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21" name="page-4">
            <a:extLst xmlns:a="http://schemas.openxmlformats.org/drawingml/2006/main">
              <a:ext uri="{FF2B5EF4-FFF2-40B4-BE49-F238E27FC236}">
                <a16:creationId xmlns:a16="http://schemas.microsoft.com/office/drawing/2014/main" id="{F480AF66-B042-448B-BDCE-42A24961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6175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5">
            <a:extLst xmlns:a="http://schemas.openxmlformats.org/drawingml/2006/main">
              <a:ext uri="{FF2B5EF4-FFF2-40B4-BE49-F238E27FC236}">
                <a16:creationId xmlns:a16="http://schemas.microsoft.com/office/drawing/2014/main" id="{998B9F82-7EDC-48E2-B17E-83891139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案例 01 · 推 / 拉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0DB12AA-ED6D-4C96-929E-059DC0E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门五金：接触方式本身就在给指令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03e241b854366"/>
          <a:srcRect xmlns:a="http://schemas.openxmlformats.org/drawingml/2006/main" l="472" t="0" r="4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1809750"/>
            <a:ext cx="5334000" cy="4038600"/>
          </a:xfrm>
          <a:prstGeom xmlns:a="http://schemas.openxmlformats.org/drawingml/2006/main" prst="roundRect">
            <a:avLst>
              <a:gd name="adj" fmla="val 4245"/>
            </a:avLst>
          </a:prstGeom>
        </p:spPr>
      </p:pic>
      <p:sp>
        <p:nvSpPr>
          <p:cNvPr id="5" name="case-num-1">
            <a:extLst xmlns:a="http://schemas.openxmlformats.org/drawingml/2006/main">
              <a:ext uri="{FF2B5EF4-FFF2-40B4-BE49-F238E27FC236}">
                <a16:creationId xmlns:a16="http://schemas.microsoft.com/office/drawing/2014/main" id="{ECF25D4F-3441-4FD6-AF0F-E1EB5EB9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dot-平板＝施力面">
            <a:extLst xmlns:a="http://schemas.openxmlformats.org/drawingml/2006/main">
              <a:ext uri="{FF2B5EF4-FFF2-40B4-BE49-F238E27FC236}">
                <a16:creationId xmlns:a16="http://schemas.microsoft.com/office/drawing/2014/main" id="{B6935E10-0CF4-499E-B1E7-E88180C7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-平板＝施力面">
            <a:extLst xmlns:a="http://schemas.openxmlformats.org/drawingml/2006/main">
              <a:ext uri="{FF2B5EF4-FFF2-40B4-BE49-F238E27FC236}">
                <a16:creationId xmlns:a16="http://schemas.microsoft.com/office/drawing/2014/main" id="{9CC09522-BC01-4463-8345-EFF1C8F2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平板＝施力面</a:t>
            </a:r>
          </a:p>
        </p:txBody>
      </p:sp>
      <p:sp>
        <p:nvSpPr>
          <p:cNvPr id="8" name="body-平板＝施力面">
            <a:extLst xmlns:a="http://schemas.openxmlformats.org/drawingml/2006/main">
              <a:ext uri="{FF2B5EF4-FFF2-40B4-BE49-F238E27FC236}">
                <a16:creationId xmlns:a16="http://schemas.microsoft.com/office/drawing/2014/main" id="{3C55180A-3CA9-4A87-9281-33A38A31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宽、平、无抓握空间，邀请手掌向前推。</a:t>
            </a:r>
          </a:p>
        </p:txBody>
      </p:sp>
      <p:sp>
        <p:nvSpPr>
          <p:cNvPr id="9" name="dot-拉手＝抓握通道">
            <a:extLst xmlns:a="http://schemas.openxmlformats.org/drawingml/2006/main">
              <a:ext uri="{FF2B5EF4-FFF2-40B4-BE49-F238E27FC236}">
                <a16:creationId xmlns:a16="http://schemas.microsoft.com/office/drawing/2014/main" id="{404AD6DD-28BB-425A-9199-6E253E5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-拉手＝抓握通道">
            <a:extLst xmlns:a="http://schemas.openxmlformats.org/drawingml/2006/main">
              <a:ext uri="{FF2B5EF4-FFF2-40B4-BE49-F238E27FC236}">
                <a16:creationId xmlns:a16="http://schemas.microsoft.com/office/drawing/2014/main" id="{44A7EB6C-9328-4F06-A612-1A153A3C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拉手＝抓握通道</a:t>
            </a:r>
          </a:p>
        </p:txBody>
      </p:sp>
      <p:sp>
        <p:nvSpPr>
          <p:cNvPr id="11" name="body-拉手＝抓握通道">
            <a:extLst xmlns:a="http://schemas.openxmlformats.org/drawingml/2006/main">
              <a:ext uri="{FF2B5EF4-FFF2-40B4-BE49-F238E27FC236}">
                <a16:creationId xmlns:a16="http://schemas.microsoft.com/office/drawing/2014/main" id="{850C0781-92CF-49F0-A5FB-682EDB56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立体、可环握、与门面保持距离，邀请向身体方向拉。</a:t>
            </a:r>
          </a:p>
        </p:txBody>
      </p:sp>
      <p:sp>
        <p:nvSpPr>
          <p:cNvPr id="12" name="takeaway-box-5">
            <a:extLst xmlns:a="http://schemas.openxmlformats.org/drawingml/2006/main">
              <a:ext uri="{FF2B5EF4-FFF2-40B4-BE49-F238E27FC236}">
                <a16:creationId xmlns:a16="http://schemas.microsoft.com/office/drawing/2014/main" id="{2F55B196-CC56-4492-962B-F8B74697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143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keaway-5">
            <a:extLst xmlns:a="http://schemas.openxmlformats.org/drawingml/2006/main">
              <a:ext uri="{FF2B5EF4-FFF2-40B4-BE49-F238E27FC236}">
                <a16:creationId xmlns:a16="http://schemas.microsoft.com/office/drawing/2014/main" id="{BAC67C21-4758-470D-8B4A-C5B8C57C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语义关键：动作机会应与真实开启方式一致</a:t>
            </a:r>
          </a:p>
        </p:txBody>
      </p:sp>
      <p:sp>
        <p:nvSpPr>
          <p:cNvPr id="14" name="footer-5">
            <a:extLst xmlns:a="http://schemas.openxmlformats.org/drawingml/2006/main">
              <a:ext uri="{FF2B5EF4-FFF2-40B4-BE49-F238E27FC236}">
                <a16:creationId xmlns:a16="http://schemas.microsoft.com/office/drawing/2014/main" id="{A2973DDD-415F-4D28-9C28-F6C37B52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15" name="page-5">
            <a:extLst xmlns:a="http://schemas.openxmlformats.org/drawingml/2006/main">
              <a:ext uri="{FF2B5EF4-FFF2-40B4-BE49-F238E27FC236}">
                <a16:creationId xmlns:a16="http://schemas.microsoft.com/office/drawing/2014/main" id="{6DD1F0ED-EF9A-4E59-9F73-B288248E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1100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6">
            <a:extLst xmlns:a="http://schemas.openxmlformats.org/drawingml/2006/main">
              <a:ext uri="{FF2B5EF4-FFF2-40B4-BE49-F238E27FC236}">
                <a16:creationId xmlns:a16="http://schemas.microsoft.com/office/drawing/2014/main" id="{D22E12AC-CAAB-4E27-AD0B-4530480D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案例 02 · 握持 / 倾倒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FB0C628-7546-4220-BF13-47F51094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电热水壶：形态把连续动作排成顺序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ba754a8864d3c"/>
          <a:srcRect xmlns:a="http://schemas.openxmlformats.org/drawingml/2006/main" l="472" t="0" r="4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809750"/>
            <a:ext cx="5334000" cy="4038600"/>
          </a:xfrm>
          <a:prstGeom xmlns:a="http://schemas.openxmlformats.org/drawingml/2006/main" prst="roundRect">
            <a:avLst>
              <a:gd name="adj" fmla="val 4245"/>
            </a:avLst>
          </a:prstGeom>
        </p:spPr>
      </p:pic>
      <p:sp>
        <p:nvSpPr>
          <p:cNvPr id="5" name="case-num-2">
            <a:extLst xmlns:a="http://schemas.openxmlformats.org/drawingml/2006/main">
              <a:ext uri="{FF2B5EF4-FFF2-40B4-BE49-F238E27FC236}">
                <a16:creationId xmlns:a16="http://schemas.microsoft.com/office/drawing/2014/main" id="{CC02AD1F-B734-4159-B2C5-06D072E7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dot-把手决定握姿">
            <a:extLst xmlns:a="http://schemas.openxmlformats.org/drawingml/2006/main">
              <a:ext uri="{FF2B5EF4-FFF2-40B4-BE49-F238E27FC236}">
                <a16:creationId xmlns:a16="http://schemas.microsoft.com/office/drawing/2014/main" id="{7E3A0E0F-D8AC-4A93-BA5B-E368BBE3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-把手决定握姿">
            <a:extLst xmlns:a="http://schemas.openxmlformats.org/drawingml/2006/main">
              <a:ext uri="{FF2B5EF4-FFF2-40B4-BE49-F238E27FC236}">
                <a16:creationId xmlns:a16="http://schemas.microsoft.com/office/drawing/2014/main" id="{6C862E61-A834-4B5A-8BCF-855AAD58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把手决定握姿</a:t>
            </a:r>
          </a:p>
        </p:txBody>
      </p:sp>
      <p:sp>
        <p:nvSpPr>
          <p:cNvPr id="8" name="body-把手决定握姿">
            <a:extLst xmlns:a="http://schemas.openxmlformats.org/drawingml/2006/main">
              <a:ext uri="{FF2B5EF4-FFF2-40B4-BE49-F238E27FC236}">
                <a16:creationId xmlns:a16="http://schemas.microsoft.com/office/drawing/2014/main" id="{13958E02-E097-4E49-AE5A-8D1087A2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弧形空间容纳手指，隔热材质区分安全接触区。</a:t>
            </a:r>
          </a:p>
        </p:txBody>
      </p:sp>
      <p:sp>
        <p:nvSpPr>
          <p:cNvPr id="9" name="dot-壶嘴决定方向">
            <a:extLst xmlns:a="http://schemas.openxmlformats.org/drawingml/2006/main">
              <a:ext uri="{FF2B5EF4-FFF2-40B4-BE49-F238E27FC236}">
                <a16:creationId xmlns:a16="http://schemas.microsoft.com/office/drawing/2014/main" id="{F219945A-4631-4F3F-B391-05C9ADA9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-壶嘴决定方向">
            <a:extLst xmlns:a="http://schemas.openxmlformats.org/drawingml/2006/main">
              <a:ext uri="{FF2B5EF4-FFF2-40B4-BE49-F238E27FC236}">
                <a16:creationId xmlns:a16="http://schemas.microsoft.com/office/drawing/2014/main" id="{53D991BA-6D6C-4EA7-955F-48D1098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壶嘴决定方向</a:t>
            </a:r>
          </a:p>
        </p:txBody>
      </p:sp>
      <p:sp>
        <p:nvSpPr>
          <p:cNvPr id="11" name="body-壶嘴决定方向">
            <a:extLst xmlns:a="http://schemas.openxmlformats.org/drawingml/2006/main">
              <a:ext uri="{FF2B5EF4-FFF2-40B4-BE49-F238E27FC236}">
                <a16:creationId xmlns:a16="http://schemas.microsoft.com/office/drawing/2014/main" id="{820F51DB-328E-4A07-B64B-5B13D394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尖端朝向给出液体出口，壶身重心支持倾倒轨迹。</a:t>
            </a:r>
          </a:p>
        </p:txBody>
      </p:sp>
      <p:sp>
        <p:nvSpPr>
          <p:cNvPr id="12" name="takeaway-box-6">
            <a:extLst xmlns:a="http://schemas.openxmlformats.org/drawingml/2006/main">
              <a:ext uri="{FF2B5EF4-FFF2-40B4-BE49-F238E27FC236}">
                <a16:creationId xmlns:a16="http://schemas.microsoft.com/office/drawing/2014/main" id="{90D874D3-0DC4-4B96-ACFD-111A423C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91150"/>
            <a:ext cx="5143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keaway-6">
            <a:extLst xmlns:a="http://schemas.openxmlformats.org/drawingml/2006/main">
              <a:ext uri="{FF2B5EF4-FFF2-40B4-BE49-F238E27FC236}">
                <a16:creationId xmlns:a16="http://schemas.microsoft.com/office/drawing/2014/main" id="{C89CA3BE-8B40-4783-88A3-A12469CB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0545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语义关键：多个细节要共同指向同一动作链</a:t>
            </a:r>
          </a:p>
        </p:txBody>
      </p:sp>
      <p:sp>
        <p:nvSpPr>
          <p:cNvPr id="14" name="footer-6">
            <a:extLst xmlns:a="http://schemas.openxmlformats.org/drawingml/2006/main">
              <a:ext uri="{FF2B5EF4-FFF2-40B4-BE49-F238E27FC236}">
                <a16:creationId xmlns:a16="http://schemas.microsoft.com/office/drawing/2014/main" id="{65DEAA95-8B4A-4295-8573-53608D36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15" name="page-6">
            <a:extLst xmlns:a="http://schemas.openxmlformats.org/drawingml/2006/main">
              <a:ext uri="{FF2B5EF4-FFF2-40B4-BE49-F238E27FC236}">
                <a16:creationId xmlns:a16="http://schemas.microsoft.com/office/drawing/2014/main" id="{A0BF78D0-5451-479F-A14D-6C56A974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1987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314EA172-FCD6-40E0-BAD8-9A1CFFB9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案例 03 · 旋转 / 调节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6BEE87C-898B-4D02-BB09-358D76FA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控制旋钮：圆形暗示旋转，刻度表达连续性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e0d46e0c44fc2"/>
          <a:srcRect xmlns:a="http://schemas.openxmlformats.org/drawingml/2006/main" l="472" t="0" r="4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1809750"/>
            <a:ext cx="5334000" cy="4038600"/>
          </a:xfrm>
          <a:prstGeom xmlns:a="http://schemas.openxmlformats.org/drawingml/2006/main" prst="roundRect">
            <a:avLst>
              <a:gd name="adj" fmla="val 4245"/>
            </a:avLst>
          </a:prstGeom>
        </p:spPr>
      </p:pic>
      <p:sp>
        <p:nvSpPr>
          <p:cNvPr id="5" name="case-num-3">
            <a:extLst xmlns:a="http://schemas.openxmlformats.org/drawingml/2006/main">
              <a:ext uri="{FF2B5EF4-FFF2-40B4-BE49-F238E27FC236}">
                <a16:creationId xmlns:a16="http://schemas.microsoft.com/office/drawing/2014/main" id="{7BFB21ED-B9B5-4D30-8B81-98314916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dot-滚花＝需要扭矩">
            <a:extLst xmlns:a="http://schemas.openxmlformats.org/drawingml/2006/main">
              <a:ext uri="{FF2B5EF4-FFF2-40B4-BE49-F238E27FC236}">
                <a16:creationId xmlns:a16="http://schemas.microsoft.com/office/drawing/2014/main" id="{8308B380-3A07-4337-A6F3-802CF2DF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-滚花＝需要扭矩">
            <a:extLst xmlns:a="http://schemas.openxmlformats.org/drawingml/2006/main">
              <a:ext uri="{FF2B5EF4-FFF2-40B4-BE49-F238E27FC236}">
                <a16:creationId xmlns:a16="http://schemas.microsoft.com/office/drawing/2014/main" id="{217598F2-2F7C-4DD6-A0DF-69D8AFAD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滚花＝需要扭矩</a:t>
            </a:r>
          </a:p>
        </p:txBody>
      </p:sp>
      <p:sp>
        <p:nvSpPr>
          <p:cNvPr id="8" name="body-滚花＝需要扭矩">
            <a:extLst xmlns:a="http://schemas.openxmlformats.org/drawingml/2006/main">
              <a:ext uri="{FF2B5EF4-FFF2-40B4-BE49-F238E27FC236}">
                <a16:creationId xmlns:a16="http://schemas.microsoft.com/office/drawing/2014/main" id="{3BF7C161-3480-47F9-8480-D4D90354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边缘纹理增加摩擦，也在视觉上强化可抓握感。</a:t>
            </a:r>
          </a:p>
        </p:txBody>
      </p:sp>
      <p:sp>
        <p:nvSpPr>
          <p:cNvPr id="9" name="dot-指针＋弧线＝映射">
            <a:extLst xmlns:a="http://schemas.openxmlformats.org/drawingml/2006/main">
              <a:ext uri="{FF2B5EF4-FFF2-40B4-BE49-F238E27FC236}">
                <a16:creationId xmlns:a16="http://schemas.microsoft.com/office/drawing/2014/main" id="{EBE5848C-1710-41F9-8095-DA64B11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-指针＋弧线＝映射">
            <a:extLst xmlns:a="http://schemas.openxmlformats.org/drawingml/2006/main">
              <a:ext uri="{FF2B5EF4-FFF2-40B4-BE49-F238E27FC236}">
                <a16:creationId xmlns:a16="http://schemas.microsoft.com/office/drawing/2014/main" id="{E92FC44A-302B-4F69-B6E0-FAE741E0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指针＋弧线＝映射</a:t>
            </a:r>
          </a:p>
        </p:txBody>
      </p:sp>
      <p:sp>
        <p:nvSpPr>
          <p:cNvPr id="11" name="body-指针＋弧线＝映射">
            <a:extLst xmlns:a="http://schemas.openxmlformats.org/drawingml/2006/main">
              <a:ext uri="{FF2B5EF4-FFF2-40B4-BE49-F238E27FC236}">
                <a16:creationId xmlns:a16="http://schemas.microsoft.com/office/drawing/2014/main" id="{92DDA3AE-161F-4712-9986-3901A1ED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旋转方向与刻度空间对应，用户能预判增减关系。</a:t>
            </a:r>
          </a:p>
        </p:txBody>
      </p:sp>
      <p:sp>
        <p:nvSpPr>
          <p:cNvPr id="12" name="takeaway-box-7">
            <a:extLst xmlns:a="http://schemas.openxmlformats.org/drawingml/2006/main">
              <a:ext uri="{FF2B5EF4-FFF2-40B4-BE49-F238E27FC236}">
                <a16:creationId xmlns:a16="http://schemas.microsoft.com/office/drawing/2014/main" id="{1DDF3344-E362-4AE0-A980-CF4C3AFC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143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keaway-7">
            <a:extLst xmlns:a="http://schemas.openxmlformats.org/drawingml/2006/main">
              <a:ext uri="{FF2B5EF4-FFF2-40B4-BE49-F238E27FC236}">
                <a16:creationId xmlns:a16="http://schemas.microsoft.com/office/drawing/2014/main" id="{E36A0748-D6E3-4C91-B43E-270A8693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语义关键：控制方向必须与结果变化自然对应</a:t>
            </a:r>
          </a:p>
        </p:txBody>
      </p:sp>
      <p:sp>
        <p:nvSpPr>
          <p:cNvPr id="14" name="footer-7">
            <a:extLst xmlns:a="http://schemas.openxmlformats.org/drawingml/2006/main">
              <a:ext uri="{FF2B5EF4-FFF2-40B4-BE49-F238E27FC236}">
                <a16:creationId xmlns:a16="http://schemas.microsoft.com/office/drawing/2014/main" id="{397411A8-EA17-408C-AA26-F1B58E17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15" name="page-7">
            <a:extLst xmlns:a="http://schemas.openxmlformats.org/drawingml/2006/main">
              <a:ext uri="{FF2B5EF4-FFF2-40B4-BE49-F238E27FC236}">
                <a16:creationId xmlns:a16="http://schemas.microsoft.com/office/drawing/2014/main" id="{A1666373-09BE-422B-9F2E-74E05FDF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0511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8">
            <a:extLst xmlns:a="http://schemas.openxmlformats.org/drawingml/2006/main">
              <a:ext uri="{FF2B5EF4-FFF2-40B4-BE49-F238E27FC236}">
                <a16:creationId xmlns:a16="http://schemas.microsoft.com/office/drawing/2014/main" id="{FE7B6C8F-8DEB-44FB-A684-D4BDEAD2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案例 04 · 紧急 / 停止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7F6F2C1-DED4-42F0-A653-4E3708C6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急停按钮：高风险信息必须先于文字被看见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4a15489284ad0"/>
          <a:srcRect xmlns:a="http://schemas.openxmlformats.org/drawingml/2006/main" l="472" t="0" r="4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809750"/>
            <a:ext cx="5334000" cy="4038600"/>
          </a:xfrm>
          <a:prstGeom xmlns:a="http://schemas.openxmlformats.org/drawingml/2006/main" prst="roundRect">
            <a:avLst>
              <a:gd name="adj" fmla="val 4245"/>
            </a:avLst>
          </a:prstGeom>
        </p:spPr>
      </p:pic>
      <p:sp>
        <p:nvSpPr>
          <p:cNvPr id="5" name="case-num-4">
            <a:extLst xmlns:a="http://schemas.openxmlformats.org/drawingml/2006/main">
              <a:ext uri="{FF2B5EF4-FFF2-40B4-BE49-F238E27FC236}">
                <a16:creationId xmlns:a16="http://schemas.microsoft.com/office/drawing/2014/main" id="{9C645194-4459-445E-9C82-45078BAB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dot-蘑菇头＝快速拍击">
            <a:extLst xmlns:a="http://schemas.openxmlformats.org/drawingml/2006/main">
              <a:ext uri="{FF2B5EF4-FFF2-40B4-BE49-F238E27FC236}">
                <a16:creationId xmlns:a16="http://schemas.microsoft.com/office/drawing/2014/main" id="{04B73CFE-BC61-4430-BE60-7BBC7FE1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-蘑菇头＝快速拍击">
            <a:extLst xmlns:a="http://schemas.openxmlformats.org/drawingml/2006/main">
              <a:ext uri="{FF2B5EF4-FFF2-40B4-BE49-F238E27FC236}">
                <a16:creationId xmlns:a16="http://schemas.microsoft.com/office/drawing/2014/main" id="{81E7D46F-42F0-433D-A9FB-F951D410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蘑菇头＝快速拍击</a:t>
            </a:r>
          </a:p>
        </p:txBody>
      </p:sp>
      <p:sp>
        <p:nvSpPr>
          <p:cNvPr id="8" name="body-蘑菇头＝快速拍击">
            <a:extLst xmlns:a="http://schemas.openxmlformats.org/drawingml/2006/main">
              <a:ext uri="{FF2B5EF4-FFF2-40B4-BE49-F238E27FC236}">
                <a16:creationId xmlns:a16="http://schemas.microsoft.com/office/drawing/2014/main" id="{E8E0C96D-BFFB-46B5-B3F1-EF58BD5B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大直径、突出表面，让紧急状态下也能迅速命中。</a:t>
            </a:r>
          </a:p>
        </p:txBody>
      </p:sp>
      <p:sp>
        <p:nvSpPr>
          <p:cNvPr id="9" name="dot-红＋黄＝风险编码">
            <a:extLst xmlns:a="http://schemas.openxmlformats.org/drawingml/2006/main">
              <a:ext uri="{FF2B5EF4-FFF2-40B4-BE49-F238E27FC236}">
                <a16:creationId xmlns:a16="http://schemas.microsoft.com/office/drawing/2014/main" id="{ECE0AF21-926D-46D3-AFB1-E37ACC3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-红＋黄＝风险编码">
            <a:extLst xmlns:a="http://schemas.openxmlformats.org/drawingml/2006/main">
              <a:ext uri="{FF2B5EF4-FFF2-40B4-BE49-F238E27FC236}">
                <a16:creationId xmlns:a16="http://schemas.microsoft.com/office/drawing/2014/main" id="{ECDFBDC0-6A35-49B7-90A3-34C11F81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红＋黄＝风险编码</a:t>
            </a:r>
          </a:p>
        </p:txBody>
      </p:sp>
      <p:sp>
        <p:nvSpPr>
          <p:cNvPr id="11" name="body-红＋黄＝风险编码">
            <a:extLst xmlns:a="http://schemas.openxmlformats.org/drawingml/2006/main">
              <a:ext uri="{FF2B5EF4-FFF2-40B4-BE49-F238E27FC236}">
                <a16:creationId xmlns:a16="http://schemas.microsoft.com/office/drawing/2014/main" id="{96CA7A8A-50DF-4F76-ADFA-6F3E9BBD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489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高对比色与防护圈同时强调重要性并减少误触。</a:t>
            </a:r>
          </a:p>
        </p:txBody>
      </p:sp>
      <p:sp>
        <p:nvSpPr>
          <p:cNvPr id="12" name="takeaway-box-8">
            <a:extLst xmlns:a="http://schemas.openxmlformats.org/drawingml/2006/main">
              <a:ext uri="{FF2B5EF4-FFF2-40B4-BE49-F238E27FC236}">
                <a16:creationId xmlns:a16="http://schemas.microsoft.com/office/drawing/2014/main" id="{C5A88BCE-2433-4C45-9842-8AD99A63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91150"/>
            <a:ext cx="5143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keaway-8">
            <a:extLst xmlns:a="http://schemas.openxmlformats.org/drawingml/2006/main">
              <a:ext uri="{FF2B5EF4-FFF2-40B4-BE49-F238E27FC236}">
                <a16:creationId xmlns:a16="http://schemas.microsoft.com/office/drawing/2014/main" id="{D24A0E29-1747-4C6A-8AB9-5EB2285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0545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rPr>
              <a:t>语义关键：风险越高，信号越要冗余、醒目、可确认</a:t>
            </a:r>
          </a:p>
        </p:txBody>
      </p:sp>
      <p:sp>
        <p:nvSpPr>
          <p:cNvPr id="14" name="footer-8">
            <a:extLst xmlns:a="http://schemas.openxmlformats.org/drawingml/2006/main">
              <a:ext uri="{FF2B5EF4-FFF2-40B4-BE49-F238E27FC236}">
                <a16:creationId xmlns:a16="http://schemas.microsoft.com/office/drawing/2014/main" id="{18DC28A1-5225-4728-A183-65F2D347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15" name="page-8">
            <a:extLst xmlns:a="http://schemas.openxmlformats.org/drawingml/2006/main">
              <a:ext uri="{FF2B5EF4-FFF2-40B4-BE49-F238E27FC236}">
                <a16:creationId xmlns:a16="http://schemas.microsoft.com/office/drawing/2014/main" id="{AEAE46CB-3198-47BE-9793-B5BF69C3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1728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-9">
            <a:extLst xmlns:a="http://schemas.openxmlformats.org/drawingml/2006/main">
              <a:ext uri="{FF2B5EF4-FFF2-40B4-BE49-F238E27FC236}">
                <a16:creationId xmlns:a16="http://schemas.microsoft.com/office/drawing/2014/main" id="{31899A55-F5D3-48ED-A734-88483881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横向比较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70FEAAAD-03A8-473B-9CA5-7104E8D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四个案例的共性：细节必须形成合力</a:t>
            </a:r>
          </a:p>
        </p:txBody>
      </p:sp>
      <p:cxnSp>
        <p:nvCxnSpPr>
          <p:cNvPr id="41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able-head">
            <a:extLst xmlns:a="http://schemas.openxmlformats.org/drawingml/2006/main">
              <a:ext uri="{FF2B5EF4-FFF2-40B4-BE49-F238E27FC236}">
                <a16:creationId xmlns:a16="http://schemas.microsoft.com/office/drawing/2014/main" id="{25EDDC94-5D1E-45C4-B5C5-07280D59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-0">
            <a:extLst xmlns:a="http://schemas.openxmlformats.org/drawingml/2006/main">
              <a:ext uri="{FF2B5EF4-FFF2-40B4-BE49-F238E27FC236}">
                <a16:creationId xmlns:a16="http://schemas.microsoft.com/office/drawing/2014/main" id="{EAD1E0C9-5D4A-49A6-BAB2-3AE30AE4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6" name="th-1">
            <a:extLst xmlns:a="http://schemas.openxmlformats.org/drawingml/2006/main">
              <a:ext uri="{FF2B5EF4-FFF2-40B4-BE49-F238E27FC236}">
                <a16:creationId xmlns:a16="http://schemas.microsoft.com/office/drawing/2014/main" id="{027792E0-9FBF-484B-9495-AB27F7C0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57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主要信息</a:t>
            </a:r>
          </a:p>
        </p:txBody>
      </p:sp>
      <p:sp>
        <p:nvSpPr>
          <p:cNvPr id="7" name="th-2">
            <a:extLst xmlns:a="http://schemas.openxmlformats.org/drawingml/2006/main">
              <a:ext uri="{FF2B5EF4-FFF2-40B4-BE49-F238E27FC236}">
                <a16:creationId xmlns:a16="http://schemas.microsoft.com/office/drawing/2014/main" id="{6D1A8F1D-1C52-4555-9799-46F9BDE0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形态线索</a:t>
            </a:r>
          </a:p>
        </p:txBody>
      </p:sp>
      <p:sp>
        <p:nvSpPr>
          <p:cNvPr id="8" name="th-3">
            <a:extLst xmlns:a="http://schemas.openxmlformats.org/drawingml/2006/main">
              <a:ext uri="{FF2B5EF4-FFF2-40B4-BE49-F238E27FC236}">
                <a16:creationId xmlns:a16="http://schemas.microsoft.com/office/drawing/2014/main" id="{1603B80D-7C49-42CD-9F04-F2D1389B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映射关系</a:t>
            </a:r>
          </a:p>
        </p:txBody>
      </p:sp>
      <p:sp>
        <p:nvSpPr>
          <p:cNvPr id="9" name="th-4">
            <a:extLst xmlns:a="http://schemas.openxmlformats.org/drawingml/2006/main">
              <a:ext uri="{FF2B5EF4-FFF2-40B4-BE49-F238E27FC236}">
                <a16:creationId xmlns:a16="http://schemas.microsoft.com/office/drawing/2014/main" id="{8B69BA74-1ACF-4B2A-A8B9-42B782EF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574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 / 约束</a:t>
            </a:r>
          </a:p>
        </p:txBody>
      </p:sp>
      <p:cxnSp>
        <p:nvCxnSpPr>
          <p:cNvPr id="48" name="rule"/>
          <p:cNvCxnSpPr/>
          <p:nvPr/>
        </p:nvCxnSpPr>
        <p:spPr>
          <a:xfrm xmlns:a="http://schemas.openxmlformats.org/drawingml/2006/main">
            <a:off x="400050" y="32099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3C7AEE94-AE4C-423A-B60D-E745EC4A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门五金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FACB3121-BA4A-446F-A9A9-454FB529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9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推 / 拉</a:t>
            </a:r>
          </a:p>
        </p:txBody>
      </p:sp>
      <p:sp>
        <p:nvSpPr>
          <p:cNvPr id="13" name="cell-0-2">
            <a:extLst xmlns:a="http://schemas.openxmlformats.org/drawingml/2006/main">
              <a:ext uri="{FF2B5EF4-FFF2-40B4-BE49-F238E27FC236}">
                <a16:creationId xmlns:a16="http://schemas.microsoft.com/office/drawing/2014/main" id="{7AE8B601-3C87-42DC-B5BC-80D72C1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平板 vs. 拉手</a:t>
            </a:r>
          </a:p>
        </p:txBody>
      </p:sp>
      <p:sp>
        <p:nvSpPr>
          <p:cNvPr id="14" name="cell-0-3">
            <a:extLst xmlns:a="http://schemas.openxmlformats.org/drawingml/2006/main">
              <a:ext uri="{FF2B5EF4-FFF2-40B4-BE49-F238E27FC236}">
                <a16:creationId xmlns:a16="http://schemas.microsoft.com/office/drawing/2014/main" id="{5CD139F0-934A-458E-92E5-73E34BC6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施力方式↔开门方向</a:t>
            </a:r>
          </a:p>
        </p:txBody>
      </p:sp>
      <p:sp>
        <p:nvSpPr>
          <p:cNvPr id="15" name="cell-0-4">
            <a:extLst xmlns:a="http://schemas.openxmlformats.org/drawingml/2006/main">
              <a:ext uri="{FF2B5EF4-FFF2-40B4-BE49-F238E27FC236}">
                <a16:creationId xmlns:a16="http://schemas.microsoft.com/office/drawing/2014/main" id="{41194A5B-93FB-455F-8C56-A68C08DF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098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物理抓握约束</a:t>
            </a:r>
          </a:p>
        </p:txBody>
      </p:sp>
      <p:sp>
        <p:nvSpPr>
          <p:cNvPr id="16" name="row-bg-1">
            <a:extLst xmlns:a="http://schemas.openxmlformats.org/drawingml/2006/main">
              <a:ext uri="{FF2B5EF4-FFF2-40B4-BE49-F238E27FC236}">
                <a16:creationId xmlns:a16="http://schemas.microsoft.com/office/drawing/2014/main" id="{6107CCEE-F504-4EB9-B397-A42A0E42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5" name="rule"/>
          <p:cNvCxnSpPr/>
          <p:nvPr/>
        </p:nvCxnSpPr>
        <p:spPr>
          <a:xfrm xmlns:a="http://schemas.openxmlformats.org/drawingml/2006/main">
            <a:off x="400050" y="39909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cell-1-0">
            <a:extLst xmlns:a="http://schemas.openxmlformats.org/drawingml/2006/main">
              <a:ext uri="{FF2B5EF4-FFF2-40B4-BE49-F238E27FC236}">
                <a16:creationId xmlns:a16="http://schemas.microsoft.com/office/drawing/2014/main" id="{8557527C-426F-4F35-88A0-4059FA53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电热水壶</a:t>
            </a:r>
          </a:p>
        </p:txBody>
      </p:sp>
      <p:sp>
        <p:nvSpPr>
          <p:cNvPr id="19" name="cell-1-1">
            <a:extLst xmlns:a="http://schemas.openxmlformats.org/drawingml/2006/main">
              <a:ext uri="{FF2B5EF4-FFF2-40B4-BE49-F238E27FC236}">
                <a16:creationId xmlns:a16="http://schemas.microsoft.com/office/drawing/2014/main" id="{D9569E5E-C8AF-4101-A748-159E1335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90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握持 / 倾倒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CBB91E53-D021-4252-8A22-74F3B387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把手、壶嘴、重心</a:t>
            </a:r>
          </a:p>
        </p:txBody>
      </p:sp>
      <p:sp>
        <p:nvSpPr>
          <p:cNvPr id="21" name="cell-1-3">
            <a:extLst xmlns:a="http://schemas.openxmlformats.org/drawingml/2006/main">
              <a:ext uri="{FF2B5EF4-FFF2-40B4-BE49-F238E27FC236}">
                <a16:creationId xmlns:a16="http://schemas.microsoft.com/office/drawing/2014/main" id="{4B679094-7577-4A31-B1F4-607BD77B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握姿↔出水方向</a:t>
            </a:r>
          </a:p>
        </p:txBody>
      </p:sp>
      <p:sp>
        <p:nvSpPr>
          <p:cNvPr id="22" name="cell-1-4">
            <a:extLst xmlns:a="http://schemas.openxmlformats.org/drawingml/2006/main">
              <a:ext uri="{FF2B5EF4-FFF2-40B4-BE49-F238E27FC236}">
                <a16:creationId xmlns:a16="http://schemas.microsoft.com/office/drawing/2014/main" id="{586FB336-4862-4694-9088-7E9F5CE1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90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隔热与防烫</a:t>
            </a:r>
          </a:p>
        </p:txBody>
      </p:sp>
      <p:cxnSp>
        <p:nvCxnSpPr>
          <p:cNvPr id="61" name="rule"/>
          <p:cNvCxnSpPr/>
          <p:nvPr/>
        </p:nvCxnSpPr>
        <p:spPr>
          <a:xfrm xmlns:a="http://schemas.openxmlformats.org/drawingml/2006/main">
            <a:off x="400050" y="47720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cell-2-0">
            <a:extLst xmlns:a="http://schemas.openxmlformats.org/drawingml/2006/main">
              <a:ext uri="{FF2B5EF4-FFF2-40B4-BE49-F238E27FC236}">
                <a16:creationId xmlns:a16="http://schemas.microsoft.com/office/drawing/2014/main" id="{09E72ACB-0B59-4482-BA72-B9975A14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控制旋钮</a:t>
            </a:r>
          </a:p>
        </p:txBody>
      </p:sp>
      <p:sp>
        <p:nvSpPr>
          <p:cNvPr id="25" name="cell-2-1">
            <a:extLst xmlns:a="http://schemas.openxmlformats.org/drawingml/2006/main">
              <a:ext uri="{FF2B5EF4-FFF2-40B4-BE49-F238E27FC236}">
                <a16:creationId xmlns:a16="http://schemas.microsoft.com/office/drawing/2014/main" id="{3C6FA72D-5648-4F13-8934-77A606B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71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连续调节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E6F0D350-52A1-4182-91F9-DBD7E788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71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圆形、滚花、指针</a:t>
            </a:r>
          </a:p>
        </p:txBody>
      </p:sp>
      <p:sp>
        <p:nvSpPr>
          <p:cNvPr id="27" name="cell-2-3">
            <a:extLst xmlns:a="http://schemas.openxmlformats.org/drawingml/2006/main">
              <a:ext uri="{FF2B5EF4-FFF2-40B4-BE49-F238E27FC236}">
                <a16:creationId xmlns:a16="http://schemas.microsoft.com/office/drawing/2014/main" id="{E49FCC1A-504D-47B7-822B-D3DC078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旋转↔增减</a:t>
            </a:r>
          </a:p>
        </p:txBody>
      </p:sp>
      <p:sp>
        <p:nvSpPr>
          <p:cNvPr id="28" name="cell-2-4">
            <a:extLst xmlns:a="http://schemas.openxmlformats.org/drawingml/2006/main">
              <a:ext uri="{FF2B5EF4-FFF2-40B4-BE49-F238E27FC236}">
                <a16:creationId xmlns:a16="http://schemas.microsoft.com/office/drawing/2014/main" id="{3B910C3A-2F98-4103-8343-C140D176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719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刻度与阻尼</a:t>
            </a:r>
          </a:p>
        </p:txBody>
      </p:sp>
      <p:sp>
        <p:nvSpPr>
          <p:cNvPr id="29" name="row-bg-3">
            <a:extLst xmlns:a="http://schemas.openxmlformats.org/drawingml/2006/main">
              <a:ext uri="{FF2B5EF4-FFF2-40B4-BE49-F238E27FC236}">
                <a16:creationId xmlns:a16="http://schemas.microsoft.com/office/drawing/2014/main" id="{B7627182-C64F-4CF3-9CD7-BB7C250A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8" name="rule"/>
          <p:cNvCxnSpPr/>
          <p:nvPr/>
        </p:nvCxnSpPr>
        <p:spPr>
          <a:xfrm xmlns:a="http://schemas.openxmlformats.org/drawingml/2006/main">
            <a:off x="400050" y="55530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42B24343-E923-4D08-AE8F-6758F080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急停按钮</a:t>
            </a:r>
          </a:p>
        </p:txBody>
      </p:sp>
      <p:sp>
        <p:nvSpPr>
          <p:cNvPr id="32" name="cell-3-1">
            <a:extLst xmlns:a="http://schemas.openxmlformats.org/drawingml/2006/main">
              <a:ext uri="{FF2B5EF4-FFF2-40B4-BE49-F238E27FC236}">
                <a16:creationId xmlns:a16="http://schemas.microsoft.com/office/drawing/2014/main" id="{4BBF327D-5FC2-4BA8-80F0-8EB934E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紧急停止</a:t>
            </a:r>
          </a:p>
        </p:txBody>
      </p:sp>
      <p:sp>
        <p:nvSpPr>
          <p:cNvPr id="33" name="cell-3-2">
            <a:extLst xmlns:a="http://schemas.openxmlformats.org/drawingml/2006/main">
              <a:ext uri="{FF2B5EF4-FFF2-40B4-BE49-F238E27FC236}">
                <a16:creationId xmlns:a16="http://schemas.microsoft.com/office/drawing/2014/main" id="{1256BFE1-2705-45B9-B75C-1890DB4D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大体量、红黄对比</a:t>
            </a:r>
          </a:p>
        </p:txBody>
      </p:sp>
      <p:sp>
        <p:nvSpPr>
          <p:cNvPr id="34" name="cell-3-3">
            <a:extLst xmlns:a="http://schemas.openxmlformats.org/drawingml/2006/main">
              <a:ext uri="{FF2B5EF4-FFF2-40B4-BE49-F238E27FC236}">
                <a16:creationId xmlns:a16="http://schemas.microsoft.com/office/drawing/2014/main" id="{D8267355-5A55-4BC5-83BF-045303A1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拍击↔停机</a:t>
            </a:r>
          </a:p>
        </p:txBody>
      </p:sp>
      <p:sp>
        <p:nvSpPr>
          <p:cNvPr id="35" name="cell-3-4">
            <a:extLst xmlns:a="http://schemas.openxmlformats.org/drawingml/2006/main">
              <a:ext uri="{FF2B5EF4-FFF2-40B4-BE49-F238E27FC236}">
                <a16:creationId xmlns:a16="http://schemas.microsoft.com/office/drawing/2014/main" id="{E8668D68-FA81-4C34-9260-F25DCAC2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530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防护圈与复位</a:t>
            </a:r>
          </a:p>
        </p:txBody>
      </p:sp>
      <p:sp>
        <p:nvSpPr>
          <p:cNvPr id="36" name="matrix-conclusion">
            <a:extLst xmlns:a="http://schemas.openxmlformats.org/drawingml/2006/main">
              <a:ext uri="{FF2B5EF4-FFF2-40B4-BE49-F238E27FC236}">
                <a16:creationId xmlns:a16="http://schemas.microsoft.com/office/drawing/2014/main" id="{5E845FB9-DAA4-4312-948E-426895A1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结论：一个清晰语义通常不是靠单一符号，而是靠轮廓、位置、材质和反馈相互验证。</a:t>
            </a:r>
          </a:p>
        </p:txBody>
      </p:sp>
      <p:sp>
        <p:nvSpPr>
          <p:cNvPr id="37" name="footer-9">
            <a:extLst xmlns:a="http://schemas.openxmlformats.org/drawingml/2006/main">
              <a:ext uri="{FF2B5EF4-FFF2-40B4-BE49-F238E27FC236}">
                <a16:creationId xmlns:a16="http://schemas.microsoft.com/office/drawing/2014/main" id="{7528E92F-4FD4-412F-9323-7103A087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38" name="page-9">
            <a:extLst xmlns:a="http://schemas.openxmlformats.org/drawingml/2006/main">
              <a:ext uri="{FF2B5EF4-FFF2-40B4-BE49-F238E27FC236}">
                <a16:creationId xmlns:a16="http://schemas.microsoft.com/office/drawing/2014/main" id="{A9D9C856-61A3-456F-BABF-99238845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290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0">
            <a:extLst xmlns:a="http://schemas.openxmlformats.org/drawingml/2006/main">
              <a:ext uri="{FF2B5EF4-FFF2-40B4-BE49-F238E27FC236}">
                <a16:creationId xmlns:a16="http://schemas.microsoft.com/office/drawing/2014/main" id="{2B3CB76F-0577-4C98-8D78-A0444C6B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反例与修正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EC4B493-1160-431A-93F0-81D7819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当造型和动作冲突，用户只能靠猜</a:t>
            </a:r>
          </a:p>
        </p:txBody>
      </p:sp>
      <p:cxnSp>
        <p:nvCxnSpPr>
          <p:cNvPr id="15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bad-title">
            <a:extLst xmlns:a="http://schemas.openxmlformats.org/drawingml/2006/main">
              <a:ext uri="{FF2B5EF4-FFF2-40B4-BE49-F238E27FC236}">
                <a16:creationId xmlns:a16="http://schemas.microsoft.com/office/drawing/2014/main" id="{26978FDA-8C8C-4654-81C8-1D67084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rPr>
              <a:t>冲突的形态</a:t>
            </a:r>
          </a:p>
        </p:txBody>
      </p:sp>
      <p:sp>
        <p:nvSpPr>
          <p:cNvPr id="5" name="bad-copy">
            <a:extLst xmlns:a="http://schemas.openxmlformats.org/drawingml/2006/main">
              <a:ext uri="{FF2B5EF4-FFF2-40B4-BE49-F238E27FC236}">
                <a16:creationId xmlns:a16="http://schemas.microsoft.com/office/drawing/2014/main" id="{4513A098-E7DA-475D-8F45-BEE2C325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门上安装可抓握的拉手，实际却只能向前推；</a:t>
            </a:r>
          </a:p>
          <a:p xmlns:a="http://schemas.openxmlformats.org/drawingml/2006/main">
            <a:pPr algn="l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旋钮顺时针旋转，结果却对应数值降低；</a:t>
            </a:r>
          </a:p>
          <a:p xmlns:a="http://schemas.openxmlformats.org/drawingml/2006/main">
            <a:pPr algn="l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危险控制与普通按键尺寸、颜色完全相同。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24BA87D0-CCA7-4740-8EE5-3914FCA3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240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ood-title">
            <a:extLst xmlns:a="http://schemas.openxmlformats.org/drawingml/2006/main">
              <a:ext uri="{FF2B5EF4-FFF2-40B4-BE49-F238E27FC236}">
                <a16:creationId xmlns:a16="http://schemas.microsoft.com/office/drawing/2014/main" id="{6EA46114-B25C-4F2D-B2D6-F8328BBB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AA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AA981"/>
                </a:solidFill>
                <a:latin typeface="Microsoft YaHei"/>
                <a:ea typeface="Microsoft YaHei"/>
                <a:cs typeface="Microsoft YaHei"/>
              </a:rPr>
              <a:t>一致的形态</a:t>
            </a:r>
          </a:p>
        </p:txBody>
      </p:sp>
      <p:sp>
        <p:nvSpPr>
          <p:cNvPr id="8" name="good-copy">
            <a:extLst xmlns:a="http://schemas.openxmlformats.org/drawingml/2006/main">
              <a:ext uri="{FF2B5EF4-FFF2-40B4-BE49-F238E27FC236}">
                <a16:creationId xmlns:a16="http://schemas.microsoft.com/office/drawing/2014/main" id="{316AA9B8-18C6-4DFB-9AA4-3D672B92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让可见形态与真实动作一致；</a:t>
            </a:r>
          </a:p>
          <a:p xmlns:a="http://schemas.openxmlformats.org/drawingml/2006/main">
            <a:pPr algn="l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让控制方向与结果变化一致；</a:t>
            </a:r>
          </a:p>
          <a:p xmlns:a="http://schemas.openxmlformats.org/drawingml/2006/main">
            <a:pPr algn="l">
              <a:def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让视觉显著性与风险等级一致。</a:t>
            </a:r>
          </a:p>
        </p:txBody>
      </p:sp>
      <p:sp>
        <p:nvSpPr>
          <p:cNvPr id="9" name="anti-takeaway">
            <a:extLst xmlns:a="http://schemas.openxmlformats.org/drawingml/2006/main">
              <a:ext uri="{FF2B5EF4-FFF2-40B4-BE49-F238E27FC236}">
                <a16:creationId xmlns:a16="http://schemas.microsoft.com/office/drawing/2014/main" id="{2B4327F8-12DD-4386-BF89-921014BC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9728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ti-summary">
            <a:extLst xmlns:a="http://schemas.openxmlformats.org/drawingml/2006/main">
              <a:ext uri="{FF2B5EF4-FFF2-40B4-BE49-F238E27FC236}">
                <a16:creationId xmlns:a16="http://schemas.microsoft.com/office/drawing/2014/main" id="{C448662A-FFAA-4BC8-B498-FBC10BE4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问题不在于用户“不会用”，而在于产品给出了相互矛盾的信息。</a:t>
            </a:r>
          </a:p>
        </p:txBody>
      </p:sp>
      <p:sp>
        <p:nvSpPr>
          <p:cNvPr id="11" name="footer-10">
            <a:extLst xmlns:a="http://schemas.openxmlformats.org/drawingml/2006/main">
              <a:ext uri="{FF2B5EF4-FFF2-40B4-BE49-F238E27FC236}">
                <a16:creationId xmlns:a16="http://schemas.microsoft.com/office/drawing/2014/main" id="{D76E56AF-F2D2-43D0-B09A-14A029EB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12" name="page-10">
            <a:extLst xmlns:a="http://schemas.openxmlformats.org/drawingml/2006/main">
              <a:ext uri="{FF2B5EF4-FFF2-40B4-BE49-F238E27FC236}">
                <a16:creationId xmlns:a16="http://schemas.microsoft.com/office/drawing/2014/main" id="{C6F9A35D-75D0-4B99-9F0D-F593DF9E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25085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1">
            <a:extLst xmlns:a="http://schemas.openxmlformats.org/drawingml/2006/main">
              <a:ext uri="{FF2B5EF4-FFF2-40B4-BE49-F238E27FC236}">
                <a16:creationId xmlns:a16="http://schemas.microsoft.com/office/drawing/2014/main" id="{30557576-FAC3-4D36-8FDC-FAE4051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设计方法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05E352C3-B0AF-4CE7-9A64-03A9229C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先定义信息，再设计形态细节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3" name="rule"/>
          <p:cNvCxnSpPr/>
          <p:nvPr/>
        </p:nvCxnSpPr>
        <p:spPr>
          <a:xfrm xmlns:a="http://schemas.openxmlformats.org/drawingml/2006/main">
            <a:off x="838200" y="329565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0D12"/>
            </a:solidFill>
            <a:prstDash val="solid"/>
          </a:ln>
        </p:spPr>
      </p:cxnSp>
      <p:sp>
        <p:nvSpPr>
          <p:cNvPr id="5" name="process-node-0">
            <a:extLst xmlns:a="http://schemas.openxmlformats.org/drawingml/2006/main">
              <a:ext uri="{FF2B5EF4-FFF2-40B4-BE49-F238E27FC236}">
                <a16:creationId xmlns:a16="http://schemas.microsoft.com/office/drawing/2014/main" id="{DC938B6A-DA4B-40BC-B8C2-F549CBB1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cess-num-0">
            <a:extLst xmlns:a="http://schemas.openxmlformats.org/drawingml/2006/main">
              <a:ext uri="{FF2B5EF4-FFF2-40B4-BE49-F238E27FC236}">
                <a16:creationId xmlns:a16="http://schemas.microsoft.com/office/drawing/2014/main" id="{B4423F7D-4F76-4553-9734-CFF5ADE9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process-title-0">
            <a:extLst xmlns:a="http://schemas.openxmlformats.org/drawingml/2006/main">
              <a:ext uri="{FF2B5EF4-FFF2-40B4-BE49-F238E27FC236}">
                <a16:creationId xmlns:a16="http://schemas.microsoft.com/office/drawing/2014/main" id="{42F31A6A-75C6-44D2-B5CD-2EF9FBA6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定义意图</a:t>
            </a:r>
          </a:p>
        </p:txBody>
      </p:sp>
      <p:sp>
        <p:nvSpPr>
          <p:cNvPr id="8" name="process-body-0">
            <a:extLst xmlns:a="http://schemas.openxmlformats.org/drawingml/2006/main">
              <a:ext uri="{FF2B5EF4-FFF2-40B4-BE49-F238E27FC236}">
                <a16:creationId xmlns:a16="http://schemas.microsoft.com/office/drawing/2014/main" id="{E0D7DA78-C8BD-4CC7-88B2-4D08E8A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用户需要知道什么？</a:t>
            </a:r>
          </a:p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动作、方向、状态还是风险？</a:t>
            </a:r>
          </a:p>
        </p:txBody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DCFE433B-D066-4A1E-81D7-82EF26DC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cess-num-1">
            <a:extLst xmlns:a="http://schemas.openxmlformats.org/drawingml/2006/main">
              <a:ext uri="{FF2B5EF4-FFF2-40B4-BE49-F238E27FC236}">
                <a16:creationId xmlns:a16="http://schemas.microsoft.com/office/drawing/2014/main" id="{389F744B-0C72-4F5C-AEBF-0B6731CC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929BDA27-C33F-41FC-B01C-AC768A35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选择线索</a:t>
            </a:r>
          </a:p>
        </p:txBody>
      </p:sp>
      <p:sp>
        <p:nvSpPr>
          <p:cNvPr id="12" name="process-body-1">
            <a:extLst xmlns:a="http://schemas.openxmlformats.org/drawingml/2006/main">
              <a:ext uri="{FF2B5EF4-FFF2-40B4-BE49-F238E27FC236}">
                <a16:creationId xmlns:a16="http://schemas.microsoft.com/office/drawing/2014/main" id="{965099BD-C0AD-4B1D-83D5-E1CC2FF7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轮廓、尺寸、位置、材质、</a:t>
            </a:r>
          </a:p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颜色分别承担什么信息？</a:t>
            </a:r>
          </a:p>
        </p:txBody>
      </p:sp>
      <p:sp>
        <p:nvSpPr>
          <p:cNvPr id="13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3EC679F7-3D66-4997-B6F1-813CDF7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718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cess-num-2">
            <a:extLst xmlns:a="http://schemas.openxmlformats.org/drawingml/2006/main">
              <a:ext uri="{FF2B5EF4-FFF2-40B4-BE49-F238E27FC236}">
                <a16:creationId xmlns:a16="http://schemas.microsoft.com/office/drawing/2014/main" id="{B4BDC1BC-559C-426C-AE5E-F83DD949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579B9AB6-87EB-461C-B7FF-36C7B197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验证一致性</a:t>
            </a:r>
          </a:p>
        </p:txBody>
      </p:sp>
      <p:sp>
        <p:nvSpPr>
          <p:cNvPr id="16" name="process-body-2">
            <a:extLst xmlns:a="http://schemas.openxmlformats.org/drawingml/2006/main">
              <a:ext uri="{FF2B5EF4-FFF2-40B4-BE49-F238E27FC236}">
                <a16:creationId xmlns:a16="http://schemas.microsoft.com/office/drawing/2014/main" id="{2C077AEC-6A62-4340-9D18-37662769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不看说明能否预判？</a:t>
            </a:r>
          </a:p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操作结果是否符合预期？</a:t>
            </a:r>
          </a:p>
        </p:txBody>
      </p:sp>
      <p:sp>
        <p:nvSpPr>
          <p:cNvPr id="17" name="test-question">
            <a:extLst xmlns:a="http://schemas.openxmlformats.org/drawingml/2006/main">
              <a:ext uri="{FF2B5EF4-FFF2-40B4-BE49-F238E27FC236}">
                <a16:creationId xmlns:a16="http://schemas.microsoft.com/office/drawing/2014/main" id="{56BD6A36-D52B-4935-92C9-1B26B078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检验问题：去掉文字标签，产品还会不会“说话”？</a:t>
            </a:r>
          </a:p>
        </p:txBody>
      </p:sp>
      <p:sp>
        <p:nvSpPr>
          <p:cNvPr id="18" name="footer-11">
            <a:extLst xmlns:a="http://schemas.openxmlformats.org/drawingml/2006/main">
              <a:ext uri="{FF2B5EF4-FFF2-40B4-BE49-F238E27FC236}">
                <a16:creationId xmlns:a16="http://schemas.microsoft.com/office/drawing/2014/main" id="{AEBB2251-7C6E-46F8-8FA3-705CB474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产品形态语义设计</a:t>
            </a:r>
          </a:p>
        </p:txBody>
      </p:sp>
      <p:sp>
        <p:nvSpPr>
          <p:cNvPr id="19" name="page-11">
            <a:extLst xmlns:a="http://schemas.openxmlformats.org/drawingml/2006/main">
              <a:ext uri="{FF2B5EF4-FFF2-40B4-BE49-F238E27FC236}">
                <a16:creationId xmlns:a16="http://schemas.microsoft.com/office/drawing/2014/main" id="{F8E888AD-E4D3-4070-927C-A8F0D755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4455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ACAD45B7-78B2-4B6D-9644-89455173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8E78756-E28C-47D4-80AB-C9FAAA30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906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好形态不是“更像”，</a:t>
            </a:r>
          </a:p>
          <a:p xmlns:a="http://schemas.openxmlformats.org/drawingml/2006/main">
            <a:pPr algn="l">
              <a:defRPr sz="49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而是让人“更少猜”。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3562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0D12"/>
            </a:solidFill>
            <a:prstDash val="solid"/>
          </a:ln>
        </p:spPr>
      </p:cxnSp>
      <p:sp>
        <p:nvSpPr>
          <p:cNvPr id="4" name="close-num-0">
            <a:extLst xmlns:a="http://schemas.openxmlformats.org/drawingml/2006/main">
              <a:ext uri="{FF2B5EF4-FFF2-40B4-BE49-F238E27FC236}">
                <a16:creationId xmlns:a16="http://schemas.microsoft.com/office/drawing/2014/main" id="{AA3E9E0C-2362-405B-A145-0D697885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ED6909ED-05B6-48BE-AC6C-D41424D6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动作可读</a:t>
            </a:r>
          </a:p>
        </p:txBody>
      </p:sp>
      <p:sp>
        <p:nvSpPr>
          <p:cNvPr id="6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AC99DD94-7C1D-44F7-A5A1-16D1569D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形态先给出可操作性</a:t>
            </a:r>
          </a:p>
        </p:txBody>
      </p:sp>
      <p:sp>
        <p:nvSpPr>
          <p:cNvPr id="7" name="close-num-1">
            <a:extLst xmlns:a="http://schemas.openxmlformats.org/drawingml/2006/main">
              <a:ext uri="{FF2B5EF4-FFF2-40B4-BE49-F238E27FC236}">
                <a16:creationId xmlns:a16="http://schemas.microsoft.com/office/drawing/2014/main" id="{852BB1DB-69BF-4B1F-AFB8-D6A433DB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9C9E7039-4932-4146-B6F0-3A0726FF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00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映射自然</a:t>
            </a:r>
          </a:p>
        </p:txBody>
      </p:sp>
      <p:sp>
        <p:nvSpPr>
          <p:cNvPr id="9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57277AD6-F473-4729-9979-34AC9A27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768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方向与结果彼此对应</a:t>
            </a:r>
          </a:p>
        </p:txBody>
      </p:sp>
      <p:sp>
        <p:nvSpPr>
          <p:cNvPr id="10" name="close-num-2">
            <a:extLst xmlns:a="http://schemas.openxmlformats.org/drawingml/2006/main">
              <a:ext uri="{FF2B5EF4-FFF2-40B4-BE49-F238E27FC236}">
                <a16:creationId xmlns:a16="http://schemas.microsoft.com/office/drawing/2014/main" id="{55030B9D-DEFB-4464-A290-F356BC71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10F5FB49-8BCB-4096-8A6A-AA3EAF39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D12"/>
                </a:solidFill>
                <a:latin typeface="Microsoft YaHei"/>
                <a:ea typeface="Microsoft YaHei"/>
                <a:cs typeface="Microsoft YaHei"/>
              </a:rPr>
              <a:t>风险醒目</a:t>
            </a:r>
          </a:p>
        </p:txBody>
      </p:sp>
      <p:sp>
        <p:nvSpPr>
          <p:cNvPr id="12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21ABF99F-99DA-4FA9-BAAC-4326A531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68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重要信息形成多重验证</a:t>
            </a:r>
          </a:p>
        </p:txBody>
      </p:sp>
      <p:sp>
        <p:nvSpPr>
          <p:cNvPr id="13" name="discussion">
            <a:extLst xmlns:a="http://schemas.openxmlformats.org/drawingml/2006/main">
              <a:ext uri="{FF2B5EF4-FFF2-40B4-BE49-F238E27FC236}">
                <a16:creationId xmlns:a16="http://schemas.microsoft.com/office/drawing/2014/main" id="{D370B813-FB30-4E3C-AA1B-54C88802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讨论：你身边还有哪些产品，去掉文字后仍然能让人一眼看懂？</a:t>
            </a:r>
          </a:p>
        </p:txBody>
      </p:sp>
      <p:sp>
        <p:nvSpPr>
          <p:cNvPr id="14" name="page-12">
            <a:extLst xmlns:a="http://schemas.openxmlformats.org/drawingml/2006/main">
              <a:ext uri="{FF2B5EF4-FFF2-40B4-BE49-F238E27FC236}">
                <a16:creationId xmlns:a16="http://schemas.microsoft.com/office/drawing/2014/main" id="{D83D4C43-7574-41F1-A2DE-AEACE6D1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0581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2026-09-03T09:25:22.3090000Z</dcterms:created>
  <dcterms:modified xsi:type="dcterms:W3CDTF">2026-09-03T09:25:22.3090000Z</dcterms:modified>
</coreProperties>
</file>
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03ca552d444776" /><Relationship Type="http://schemas.openxmlformats.org/officeDocument/2006/relationships/extended-properties" Target="/docProps/app.xml" Id="R70dddef440b040dd" /><Relationship Type="http://schemas.openxmlformats.org/officeDocument/2006/relationships/officeDocument" Target="/ppt/presentation.xml" Id="R9e112310eb3744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11311cb7c245ee"/>
  </p:sldMasterIdLst>
  <p:notesMasterIdLst>
    <p:notesMasterId xmlns:r="http://schemas.openxmlformats.org/officeDocument/2006/relationships" r:id="Rc1e8b94038d74b52"/>
  </p:notesMasterIdLst>
  <p:sldIdLst>
    <p:sldId xmlns:r="http://schemas.openxmlformats.org/officeDocument/2006/relationships" id="256" r:id="Ra9276f8b878549b8"/>
    <p:sldId xmlns:r="http://schemas.openxmlformats.org/officeDocument/2006/relationships" id="257" r:id="R02db2861dea64021"/>
    <p:sldId xmlns:r="http://schemas.openxmlformats.org/officeDocument/2006/relationships" id="258" r:id="R2ef2748c14f04cf7"/>
    <p:sldId xmlns:r="http://schemas.openxmlformats.org/officeDocument/2006/relationships" id="259" r:id="R7f4c2344b9ab4a8a"/>
    <p:sldId xmlns:r="http://schemas.openxmlformats.org/officeDocument/2006/relationships" id="260" r:id="R6476d7adab36470c"/>
    <p:sldId xmlns:r="http://schemas.openxmlformats.org/officeDocument/2006/relationships" id="261" r:id="R46b103ee96e74f49"/>
    <p:sldId xmlns:r="http://schemas.openxmlformats.org/officeDocument/2006/relationships" id="262" r:id="R4155f7d3d7054763"/>
    <p:sldId xmlns:r="http://schemas.openxmlformats.org/officeDocument/2006/relationships" id="263" r:id="R894b8aac5cb946e9"/>
    <p:sldId xmlns:r="http://schemas.openxmlformats.org/officeDocument/2006/relationships" id="264" r:id="R89a4c80748ba40c5"/>
    <p:sldId xmlns:r="http://schemas.openxmlformats.org/officeDocument/2006/relationships" id="265" r:id="Rfaf5b35f41f84954"/>
    <p:sldId xmlns:r="http://schemas.openxmlformats.org/officeDocument/2006/relationships" id="266" r:id="Ra426b85835a34b79"/>
    <p:sldId xmlns:r="http://schemas.openxmlformats.org/officeDocument/2006/relationships" id="267" r:id="R89fba239372142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810d7b02854cf7" /><Relationship Type="http://schemas.openxmlformats.org/officeDocument/2006/relationships/slideMaster" Target="/ppt/slideMasters/slideMaster1.xml" Id="R5611311cb7c245ee" /><Relationship Type="http://schemas.openxmlformats.org/officeDocument/2006/relationships/notesMaster" Target="/ppt/notesMasters/notesMaster1.xml" Id="Rc1e8b94038d74b52" /><Relationship Type="http://schemas.openxmlformats.org/officeDocument/2006/relationships/presProps" Target="/ppt/presProps.xml" Id="R9229a7fe8ac1496d" /><Relationship Type="http://schemas.openxmlformats.org/officeDocument/2006/relationships/tableStyles" Target="/ppt/tableStyles.xml" Id="Re6605fa56b4b48a9" /><Relationship Type="http://schemas.openxmlformats.org/officeDocument/2006/relationships/slide" Target="/ppt/slides/slide1.xml" Id="Ra9276f8b878549b8" /><Relationship Type="http://schemas.openxmlformats.org/officeDocument/2006/relationships/slide" Target="/ppt/slides/slide2.xml" Id="R02db2861dea64021" /><Relationship Type="http://schemas.openxmlformats.org/officeDocument/2006/relationships/slide" Target="/ppt/slides/slide3.xml" Id="R2ef2748c14f04cf7" /><Relationship Type="http://schemas.openxmlformats.org/officeDocument/2006/relationships/slide" Target="/ppt/slides/slide4.xml" Id="R7f4c2344b9ab4a8a" /><Relationship Type="http://schemas.openxmlformats.org/officeDocument/2006/relationships/slide" Target="/ppt/slides/slide5.xml" Id="R6476d7adab36470c" /><Relationship Type="http://schemas.openxmlformats.org/officeDocument/2006/relationships/slide" Target="/ppt/slides/slide6.xml" Id="R46b103ee96e74f49" /><Relationship Type="http://schemas.openxmlformats.org/officeDocument/2006/relationships/slide" Target="/ppt/slides/slide7.xml" Id="R4155f7d3d7054763" /><Relationship Type="http://schemas.openxmlformats.org/officeDocument/2006/relationships/slide" Target="/ppt/slides/slide8.xml" Id="R894b8aac5cb946e9" /><Relationship Type="http://schemas.openxmlformats.org/officeDocument/2006/relationships/slide" Target="/ppt/slides/slide9.xml" Id="R89a4c80748ba40c5" /><Relationship Type="http://schemas.openxmlformats.org/officeDocument/2006/relationships/slide" Target="/ppt/slides/slide10.xml" Id="Rfaf5b35f41f84954" /><Relationship Type="http://schemas.openxmlformats.org/officeDocument/2006/relationships/slide" Target="/ppt/slides/slide11.xml" Id="Ra426b85835a34b79" /><Relationship Type="http://schemas.openxmlformats.org/officeDocument/2006/relationships/slide" Target="/ppt/slides/slide12.xml" Id="R89fba239372142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5f80ab63d742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f85a84f4aa430c" /><Relationship Type="http://schemas.openxmlformats.org/officeDocument/2006/relationships/notesMaster" Target="/ppt/notesMasters/notesMaster1.xml" Id="R61b74ed2be3943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3496efe3e04186" /><Relationship Type="http://schemas.openxmlformats.org/officeDocument/2006/relationships/notesMaster" Target="/ppt/notesMasters/notesMaster1.xml" Id="Re37696acb8b34b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6dabc9ed6e4df6" /><Relationship Type="http://schemas.openxmlformats.org/officeDocument/2006/relationships/notesMaster" Target="/ppt/notesMasters/notesMaster1.xml" Id="R95cb65d0e37245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750c21ca33405e" /><Relationship Type="http://schemas.openxmlformats.org/officeDocument/2006/relationships/notesMaster" Target="/ppt/notesMasters/notesMaster1.xml" Id="Re4337c458afe4d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1afc048c864729" /><Relationship Type="http://schemas.openxmlformats.org/officeDocument/2006/relationships/notesMaster" Target="/ppt/notesMasters/notesMaster1.xml" Id="R9955cecbbe8c43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1d1ce854da4095" /><Relationship Type="http://schemas.openxmlformats.org/officeDocument/2006/relationships/notesMaster" Target="/ppt/notesMasters/notesMaster1.xml" Id="R2bf4d94b868842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d2b96e7c0545d9" /><Relationship Type="http://schemas.openxmlformats.org/officeDocument/2006/relationships/notesMaster" Target="/ppt/notesMasters/notesMaster1.xml" Id="R8188e0a8a21e4c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918e9b1ea64a0b" /><Relationship Type="http://schemas.openxmlformats.org/officeDocument/2006/relationships/notesMaster" Target="/ppt/notesMasters/notesMaster1.xml" Id="R5962fdcdd83741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ef89d12c664a12" /><Relationship Type="http://schemas.openxmlformats.org/officeDocument/2006/relationships/notesMaster" Target="/ppt/notesMasters/notesMaster1.xml" Id="Rdfdccf9b336f4a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c474d9c27f4a6f" /><Relationship Type="http://schemas.openxmlformats.org/officeDocument/2006/relationships/notesMaster" Target="/ppt/notesMasters/notesMaster1.xml" Id="R58f0b4c33c324b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5aae5dd0d94089" /><Relationship Type="http://schemas.openxmlformats.org/officeDocument/2006/relationships/notesMaster" Target="/ppt/notesMasters/notesMaster1.xml" Id="R723ecbc8c56641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649eee41004993" /><Relationship Type="http://schemas.openxmlformats.org/officeDocument/2006/relationships/notesMaster" Target="/ppt/notesMasters/notesMaster1.xml" Id="R8ed7d01d713c4d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封面沿用机械行业模板的金属背景和大型机械部件构图。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Background extracted from user-provided 机械行业.pptx.</a:t>
            </a:r>
          </a:p>
          <a:p xmlns:a="http://schemas.openxmlformats.org/drawingml/2006/main">
            <a:r>
              <a:t>- OpenAI-generated hero-button.png, 2026-09-06.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说明形态语义的范围，后面四个案例都用这一概念分析。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四个问题用于统一比较不同产品，不依赖具体品类。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四类按操作信息分类，保留原汇报的四个产品案例。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course-report synthesis.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按形态细节、传递信息和用户动作进行分析。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Retained case image from prior deck: door.png.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按形态细节、传递信息和用户动作进行分析。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Retained case image from prior deck: kettle.png.</a:t>
            </a:r>
          </a:p>
          <a:p xmlns:a="http://schemas.openxmlformats.org/drawingml/2006/main">
            <a:r>
              <a:t>- Original visual analysis of a generic everyday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按形态细节、传递信息和用户动作进行分析。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Retained case image from prior deck: knob.png.</a:t>
            </a:r>
          </a:p>
          <a:p xmlns:a="http://schemas.openxmlformats.org/drawingml/2006/main">
            <a:r>
              <a:t>- Original visual analysis of a generic rotary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按形态细节、传递信息和用户动作进行分析。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Retained case image from prior deck: emergency.png.</a:t>
            </a:r>
          </a:p>
          <a:p xmlns:a="http://schemas.openxmlformats.org/drawingml/2006/main">
            <a:r>
              <a:t>- ISO 3864-1:2011: https://www.iso.org/standard/51021.html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表格对比四类产品的形态线索、映射和约束。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IEC/ISO symbols general description: https://webstore.iec.ch/en/iec_catalog/product/preview/?id=L3B1Yi9wZGYvcHJldmlldy9pbmZvX2llYzYwNDE3e2VkMS4wfWIucGRm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通过常见错误说明形态和操作不一致时会产生误用。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四个步骤可用于后续产品方案分析和形态推敲。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结尾概括四个案例的共同设计原则。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OpenAI-generated hero-button.png, 2026-09-06.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  <a:p xmlns:a="http://schemas.openxmlformats.org/drawingml/2006/main">
            <a:r>
              <a:t>- ISO 3864-1:2011: https://www.iso.org/standard/51021.html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e1916553243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baeffcac534fcf" /><Relationship Type="http://schemas.openxmlformats.org/officeDocument/2006/relationships/slideLayout" Target="/ppt/slideLayouts/slideLayout1.xml" Id="R8b09b8e852f74e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09b8e852f74e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0591dbdb940e5" /><Relationship Type="http://schemas.openxmlformats.org/officeDocument/2006/relationships/image" Target="/ppt/media/image.jpeg" Id="R0dff0ba56a1e4115" /><Relationship Type="http://schemas.openxmlformats.org/officeDocument/2006/relationships/image" Target="/ppt/media/image.png" Id="R4655820c990c4402" /><Relationship Type="http://schemas.openxmlformats.org/officeDocument/2006/relationships/notesSlide" Target="/ppt/notesSlides/notesSlide1.xml" Id="R56e3da44dadc49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c28bcabad44c3" /><Relationship Type="http://schemas.openxmlformats.org/officeDocument/2006/relationships/image" Target="/ppt/media/image2.jpeg" Id="Rb8d26112536745a6" /><Relationship Type="http://schemas.openxmlformats.org/officeDocument/2006/relationships/notesSlide" Target="/ppt/notesSlides/notesSlide2.xml" Id="R88451987ece444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5dc56ec8b4295" /><Relationship Type="http://schemas.openxmlformats.org/officeDocument/2006/relationships/image" Target="/ppt/media/image3.jpeg" Id="R0d7cdf33983547c0" /><Relationship Type="http://schemas.openxmlformats.org/officeDocument/2006/relationships/notesSlide" Target="/ppt/notesSlides/notesSlide3.xml" Id="R5a3e3cdd1a0342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68e158ea54523" /><Relationship Type="http://schemas.openxmlformats.org/officeDocument/2006/relationships/image" Target="/ppt/media/image4.jpeg" Id="R16de14d8c9e548cb" /><Relationship Type="http://schemas.openxmlformats.org/officeDocument/2006/relationships/notesSlide" Target="/ppt/notesSlides/notesSlide4.xml" Id="Re6d9d4c429bf47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585b2e3a74aa3" /><Relationship Type="http://schemas.openxmlformats.org/officeDocument/2006/relationships/image" Target="/ppt/media/image5.jpeg" Id="Rd27b63fbcb384686" /><Relationship Type="http://schemas.openxmlformats.org/officeDocument/2006/relationships/image" Target="/ppt/media/image2.png" Id="R7cbd642901a24fbb" /><Relationship Type="http://schemas.openxmlformats.org/officeDocument/2006/relationships/notesSlide" Target="/ppt/notesSlides/notesSlide5.xml" Id="R5b1d0aaed6a54f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48bf693a1485c" /><Relationship Type="http://schemas.openxmlformats.org/officeDocument/2006/relationships/image" Target="/ppt/media/image6.jpeg" Id="R9504d6bd8d6d4ce3" /><Relationship Type="http://schemas.openxmlformats.org/officeDocument/2006/relationships/image" Target="/ppt/media/image3.png" Id="R4ae7eaffef024fee" /><Relationship Type="http://schemas.openxmlformats.org/officeDocument/2006/relationships/notesSlide" Target="/ppt/notesSlides/notesSlide6.xml" Id="R5dfb4b50628141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76cd86a76461b" /><Relationship Type="http://schemas.openxmlformats.org/officeDocument/2006/relationships/image" Target="/ppt/media/image7.jpeg" Id="R4253fa78f2b84a01" /><Relationship Type="http://schemas.openxmlformats.org/officeDocument/2006/relationships/image" Target="/ppt/media/image4.png" Id="R6ca00c6d0ca04d47" /><Relationship Type="http://schemas.openxmlformats.org/officeDocument/2006/relationships/notesSlide" Target="/ppt/notesSlides/notesSlide7.xml" Id="R423b5c15a70c47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9d26ffe1f420c" /><Relationship Type="http://schemas.openxmlformats.org/officeDocument/2006/relationships/image" Target="/ppt/media/image8.jpeg" Id="Rdd30d3d911de4b64" /><Relationship Type="http://schemas.openxmlformats.org/officeDocument/2006/relationships/image" Target="/ppt/media/image5.png" Id="R6241d04178fb46e4" /><Relationship Type="http://schemas.openxmlformats.org/officeDocument/2006/relationships/notesSlide" Target="/ppt/notesSlides/notesSlide8.xml" Id="Re738c72e2d6d43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5a3baa1da4212" /><Relationship Type="http://schemas.openxmlformats.org/officeDocument/2006/relationships/image" Target="/ppt/media/image9.jpeg" Id="R0712b4242090454a" /><Relationship Type="http://schemas.openxmlformats.org/officeDocument/2006/relationships/notesSlide" Target="/ppt/notesSlides/notesSlide9.xml" Id="Rf5cff4dff9624c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1290122f3482d" /><Relationship Type="http://schemas.openxmlformats.org/officeDocument/2006/relationships/image" Target="/ppt/media/image10.jpeg" Id="R97af19e72e2944e3" /><Relationship Type="http://schemas.openxmlformats.org/officeDocument/2006/relationships/notesSlide" Target="/ppt/notesSlides/notesSlide10.xml" Id="Read1613d3f8e44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49b7cfde546e3" /><Relationship Type="http://schemas.openxmlformats.org/officeDocument/2006/relationships/image" Target="/ppt/media/image11.jpeg" Id="R8251ce81d80846e1" /><Relationship Type="http://schemas.openxmlformats.org/officeDocument/2006/relationships/notesSlide" Target="/ppt/notesSlides/notesSlide11.xml" Id="R4cc574a993c043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3ffe86fc34fbc" /><Relationship Type="http://schemas.openxmlformats.org/officeDocument/2006/relationships/image" Target="/ppt/media/image12.jpeg" Id="R58a18325351d4413" /><Relationship Type="http://schemas.openxmlformats.org/officeDocument/2006/relationships/image" Target="/ppt/media/image6.png" Id="Re5b841274a264758" /><Relationship Type="http://schemas.openxmlformats.org/officeDocument/2006/relationships/notesSlide" Target="/ppt/notesSlides/notesSlide12.xml" Id="R448af66c092e499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f0ba56a1e41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en">
            <a:extLst xmlns:a="http://schemas.openxmlformats.org/drawingml/2006/main">
              <a:ext uri="{FF2B5EF4-FFF2-40B4-BE49-F238E27FC236}">
                <a16:creationId xmlns:a16="http://schemas.microsoft.com/office/drawing/2014/main" id="{D624582E-7A78-480A-BCF6-7AEE3B2C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PRODUCT FORM SEMANTICS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033E3F9-2195-4A60-8806-F5AA064A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产品形态语义设计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E1A1A6A-2B67-4B51-B3FE-C9F8041A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四类日常产品案例分析</a:t>
            </a:r>
          </a:p>
        </p:txBody>
      </p:sp>
      <p:cxnSp>
        <p:nvCxnSpPr>
          <p:cNvPr id="12" name="line"/>
          <p:cNvCxnSpPr/>
          <p:nvPr/>
        </p:nvCxnSpPr>
        <p:spPr>
          <a:xfrm xmlns:a="http://schemas.openxmlformats.org/drawingml/2006/main">
            <a:off x="685800" y="363855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195A2"/>
            </a:solidFill>
            <a:prstDash val="solid"/>
          </a:ln>
        </p:spPr>
      </p:cxnSp>
      <p:sp>
        <p:nvSpPr>
          <p:cNvPr id="6" name="cover-info">
            <a:extLst xmlns:a="http://schemas.openxmlformats.org/drawingml/2006/main">
              <a:ext uri="{FF2B5EF4-FFF2-40B4-BE49-F238E27FC236}">
                <a16:creationId xmlns:a16="http://schemas.microsoft.com/office/drawing/2014/main" id="{E647008D-E350-48C9-9BBD-061F16FE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课程汇报    汇报人：________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5820c990c4402"/>
          <a:stretch xmlns:a="http://schemas.openxmlformats.org/drawingml/2006/main"/>
        </p:blipFill>
        <p:spPr>
          <a:xfrm xmlns:a="http://schemas.openxmlformats.org/drawingml/2006/main">
            <a:off x="7239000" y="795130"/>
            <a:ext cx="4857750" cy="55534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87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26112536745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1">
            <a:extLst xmlns:a="http://schemas.openxmlformats.org/drawingml/2006/main">
              <a:ext uri="{FF2B5EF4-FFF2-40B4-BE49-F238E27FC236}">
                <a16:creationId xmlns:a16="http://schemas.microsoft.com/office/drawing/2014/main" id="{BB3662F4-EB53-480B-9D02-23D87D54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01</a:t>
            </a:r>
          </a:p>
        </p:txBody>
      </p:sp>
      <p:sp>
        <p:nvSpPr>
          <p:cNvPr id="3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26B9F12C-5041-41D4-9C5F-04821E67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形态语义是什么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588BF7FE-BD51-4C05-9990-48F0EEEB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基本概念</a:t>
            </a:r>
          </a:p>
        </p:txBody>
      </p:sp>
      <p:cxnSp>
        <p:nvCxnSpPr>
          <p:cNvPr id="25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sp>
        <p:nvSpPr>
          <p:cNvPr id="6" name="watermark">
            <a:extLst xmlns:a="http://schemas.openxmlformats.org/drawingml/2006/main">
              <a:ext uri="{FF2B5EF4-FFF2-40B4-BE49-F238E27FC236}">
                <a16:creationId xmlns:a16="http://schemas.microsoft.com/office/drawing/2014/main" id="{F3DC0DC8-7B71-4A52-9BBC-286F7B23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C4C9CC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C4C9CC"/>
                </a:solidFill>
                <a:latin typeface="微软雅黑"/>
                <a:ea typeface="微软雅黑"/>
                <a:cs typeface="微软雅黑"/>
              </a:rPr>
              <a:t>FORM</a:t>
            </a:r>
          </a:p>
          <a:p xmlns:a="http://schemas.openxmlformats.org/drawingml/2006/main">
            <a:pPr algn="l">
              <a:defRPr sz="3900" b="1">
                <a:solidFill>
                  <a:srgbClr val="C4C9CC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C4C9CC"/>
                </a:solidFill>
                <a:latin typeface="微软雅黑"/>
                <a:ea typeface="微软雅黑"/>
                <a:cs typeface="微软雅黑"/>
              </a:rPr>
              <a:t>SEMANTICS</a:t>
            </a:r>
          </a:p>
        </p:txBody>
      </p:sp>
      <p:sp>
        <p:nvSpPr>
          <p:cNvPr id="7" name="definition">
            <a:extLst xmlns:a="http://schemas.openxmlformats.org/drawingml/2006/main">
              <a:ext uri="{FF2B5EF4-FFF2-40B4-BE49-F238E27FC236}">
                <a16:creationId xmlns:a16="http://schemas.microsoft.com/office/drawing/2014/main" id="{2D1B9193-7A3F-4159-8477-DC92ACB1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95400"/>
            <a:ext cx="6572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产品的外观和结构会传出使用信息。用户看到轮廓、接触位置和材质后，会判断哪里能操作、应该怎样操作，以及是否存在风险。</a:t>
            </a:r>
          </a:p>
        </p:txBody>
      </p:sp>
      <p:sp>
        <p:nvSpPr>
          <p:cNvPr id="8" name="def-num-0">
            <a:extLst xmlns:a="http://schemas.openxmlformats.org/drawingml/2006/main">
              <a:ext uri="{FF2B5EF4-FFF2-40B4-BE49-F238E27FC236}">
                <a16:creationId xmlns:a16="http://schemas.microsoft.com/office/drawing/2014/main" id="{853D0E08-4BA2-44B7-9D60-03E4F8F6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def-head-0">
            <a:extLst xmlns:a="http://schemas.openxmlformats.org/drawingml/2006/main">
              <a:ext uri="{FF2B5EF4-FFF2-40B4-BE49-F238E27FC236}">
                <a16:creationId xmlns:a16="http://schemas.microsoft.com/office/drawing/2014/main" id="{62D1D90B-B99F-48E7-85F0-40762DD2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轮廓与尺度</a:t>
            </a:r>
          </a:p>
        </p:txBody>
      </p:sp>
      <p:sp>
        <p:nvSpPr>
          <p:cNvPr id="10" name="def-body-0">
            <a:extLst xmlns:a="http://schemas.openxmlformats.org/drawingml/2006/main">
              <a:ext uri="{FF2B5EF4-FFF2-40B4-BE49-F238E27FC236}">
                <a16:creationId xmlns:a16="http://schemas.microsoft.com/office/drawing/2014/main" id="{8D0207AF-1949-4567-9709-BEC1D34D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决定部件是否显得可按、可握或可转</a:t>
            </a:r>
          </a:p>
        </p:txBody>
      </p:sp>
      <p:sp>
        <p:nvSpPr>
          <p:cNvPr id="11" name="def-num-1">
            <a:extLst xmlns:a="http://schemas.openxmlformats.org/drawingml/2006/main">
              <a:ext uri="{FF2B5EF4-FFF2-40B4-BE49-F238E27FC236}">
                <a16:creationId xmlns:a16="http://schemas.microsoft.com/office/drawing/2014/main" id="{227821CB-970F-4BD5-9384-69063190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def-head-1">
            <a:extLst xmlns:a="http://schemas.openxmlformats.org/drawingml/2006/main">
              <a:ext uri="{FF2B5EF4-FFF2-40B4-BE49-F238E27FC236}">
                <a16:creationId xmlns:a16="http://schemas.microsoft.com/office/drawing/2014/main" id="{15A22D58-0ED6-4B05-9564-D4EC6365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42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接触方式</a:t>
            </a:r>
          </a:p>
        </p:txBody>
      </p:sp>
      <p:sp>
        <p:nvSpPr>
          <p:cNvPr id="13" name="def-body-1">
            <a:extLst xmlns:a="http://schemas.openxmlformats.org/drawingml/2006/main">
              <a:ext uri="{FF2B5EF4-FFF2-40B4-BE49-F238E27FC236}">
                <a16:creationId xmlns:a16="http://schemas.microsoft.com/office/drawing/2014/main" id="{6293B1D8-D57F-4E29-9B6A-B43970BC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433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平面、凹面、纹理对应不同手部动作</a:t>
            </a:r>
          </a:p>
        </p:txBody>
      </p:sp>
      <p:sp>
        <p:nvSpPr>
          <p:cNvPr id="14" name="def-num-2">
            <a:extLst xmlns:a="http://schemas.openxmlformats.org/drawingml/2006/main">
              <a:ext uri="{FF2B5EF4-FFF2-40B4-BE49-F238E27FC236}">
                <a16:creationId xmlns:a16="http://schemas.microsoft.com/office/drawing/2014/main" id="{56F396A6-D686-4765-BDAD-3BE59FD8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def-head-2">
            <a:extLst xmlns:a="http://schemas.openxmlformats.org/drawingml/2006/main">
              <a:ext uri="{FF2B5EF4-FFF2-40B4-BE49-F238E27FC236}">
                <a16:creationId xmlns:a16="http://schemas.microsoft.com/office/drawing/2014/main" id="{6A3CDCAC-E8F8-4441-9352-E7E44BD3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386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位置与方向</a:t>
            </a:r>
          </a:p>
        </p:txBody>
      </p:sp>
      <p:sp>
        <p:nvSpPr>
          <p:cNvPr id="16" name="def-body-2">
            <a:extLst xmlns:a="http://schemas.openxmlformats.org/drawingml/2006/main">
              <a:ext uri="{FF2B5EF4-FFF2-40B4-BE49-F238E27FC236}">
                <a16:creationId xmlns:a16="http://schemas.microsoft.com/office/drawing/2014/main" id="{E8FD72CF-7726-4AA6-B996-44861B4D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建立控制动作与产品结果之间的关系</a:t>
            </a:r>
          </a:p>
        </p:txBody>
      </p:sp>
      <p:sp>
        <p:nvSpPr>
          <p:cNvPr id="17" name="def-num-3">
            <a:extLst xmlns:a="http://schemas.openxmlformats.org/drawingml/2006/main">
              <a:ext uri="{FF2B5EF4-FFF2-40B4-BE49-F238E27FC236}">
                <a16:creationId xmlns:a16="http://schemas.microsoft.com/office/drawing/2014/main" id="{98982464-553F-4E14-B175-DB00E474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57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8" name="def-head-3">
            <a:extLst xmlns:a="http://schemas.openxmlformats.org/drawingml/2006/main">
              <a:ext uri="{FF2B5EF4-FFF2-40B4-BE49-F238E27FC236}">
                <a16:creationId xmlns:a16="http://schemas.microsoft.com/office/drawing/2014/main" id="{4D202091-5791-4296-ADAD-A89E6871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386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色彩与状态</a:t>
            </a:r>
          </a:p>
        </p:txBody>
      </p:sp>
      <p:sp>
        <p:nvSpPr>
          <p:cNvPr id="19" name="def-body-3">
            <a:extLst xmlns:a="http://schemas.openxmlformats.org/drawingml/2006/main">
              <a:ext uri="{FF2B5EF4-FFF2-40B4-BE49-F238E27FC236}">
                <a16:creationId xmlns:a16="http://schemas.microsoft.com/office/drawing/2014/main" id="{07DAD3A4-A1A1-435A-A9C2-4E631728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提示工作状态，并突出安全信息</a:t>
            </a:r>
          </a:p>
        </p:txBody>
      </p:sp>
      <p:sp>
        <p:nvSpPr>
          <p:cNvPr id="20" name="page-2">
            <a:extLst xmlns:a="http://schemas.openxmlformats.org/drawingml/2006/main">
              <a:ext uri="{FF2B5EF4-FFF2-40B4-BE49-F238E27FC236}">
                <a16:creationId xmlns:a16="http://schemas.microsoft.com/office/drawing/2014/main" id="{3610F8DE-3150-4316-91A5-366FE200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32199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cdf33983547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2">
            <a:extLst xmlns:a="http://schemas.openxmlformats.org/drawingml/2006/main">
              <a:ext uri="{FF2B5EF4-FFF2-40B4-BE49-F238E27FC236}">
                <a16:creationId xmlns:a16="http://schemas.microsoft.com/office/drawing/2014/main" id="{80CF63A2-C318-49A1-B8C7-1242C5AE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02</a:t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9E316815-EF84-4047-BDC6-EF02913E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分析框架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898AFC6D-32B9-4B7E-B6FE-DC929B11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四个问题</a:t>
            </a:r>
          </a:p>
        </p:txBody>
      </p:sp>
      <p:cxnSp>
        <p:nvCxnSpPr>
          <p:cNvPr id="27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sp>
        <p:nvSpPr>
          <p:cNvPr id="6" name="q-num-0">
            <a:extLst xmlns:a="http://schemas.openxmlformats.org/drawingml/2006/main">
              <a:ext uri="{FF2B5EF4-FFF2-40B4-BE49-F238E27FC236}">
                <a16:creationId xmlns:a16="http://schemas.microsoft.com/office/drawing/2014/main" id="{9F697C84-5AF7-443B-9F65-2EEB15E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q-head-0">
            <a:extLst xmlns:a="http://schemas.openxmlformats.org/drawingml/2006/main">
              <a:ext uri="{FF2B5EF4-FFF2-40B4-BE49-F238E27FC236}">
                <a16:creationId xmlns:a16="http://schemas.microsoft.com/office/drawing/2014/main" id="{05FFFC21-A699-4469-9621-7C974939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192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能否操作</a:t>
            </a:r>
          </a:p>
        </p:txBody>
      </p:sp>
      <p:sp>
        <p:nvSpPr>
          <p:cNvPr id="8" name="q-body-0">
            <a:extLst xmlns:a="http://schemas.openxmlformats.org/drawingml/2006/main">
              <a:ext uri="{FF2B5EF4-FFF2-40B4-BE49-F238E27FC236}">
                <a16:creationId xmlns:a16="http://schemas.microsoft.com/office/drawing/2014/main" id="{424B904D-5155-40A9-AA5E-2A24F6C8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382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部件是否容易被发现和触达</a:t>
            </a:r>
          </a:p>
        </p:txBody>
      </p:sp>
      <p:cxnSp>
        <p:nvCxnSpPr>
          <p:cNvPr id="31" name="line"/>
          <p:cNvCxnSpPr/>
          <p:nvPr/>
        </p:nvCxnSpPr>
        <p:spPr>
          <a:xfrm xmlns:a="http://schemas.openxmlformats.org/drawingml/2006/main">
            <a:off x="1809750" y="1971675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3D5"/>
            </a:solidFill>
            <a:prstDash val="solid"/>
          </a:ln>
        </p:spPr>
      </p:cxnSp>
      <p:sp>
        <p:nvSpPr>
          <p:cNvPr id="10" name="q-num-1">
            <a:extLst xmlns:a="http://schemas.openxmlformats.org/drawingml/2006/main">
              <a:ext uri="{FF2B5EF4-FFF2-40B4-BE49-F238E27FC236}">
                <a16:creationId xmlns:a16="http://schemas.microsoft.com/office/drawing/2014/main" id="{6C2FEB8A-0EC1-4988-9272-FCCB2ABB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q-head-1">
            <a:extLst xmlns:a="http://schemas.openxmlformats.org/drawingml/2006/main">
              <a:ext uri="{FF2B5EF4-FFF2-40B4-BE49-F238E27FC236}">
                <a16:creationId xmlns:a16="http://schemas.microsoft.com/office/drawing/2014/main" id="{BF3221D2-313B-456F-8279-867E03B1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动作是什么</a:t>
            </a:r>
          </a:p>
        </p:txBody>
      </p:sp>
      <p:sp>
        <p:nvSpPr>
          <p:cNvPr id="12" name="q-body-1">
            <a:extLst xmlns:a="http://schemas.openxmlformats.org/drawingml/2006/main">
              <a:ext uri="{FF2B5EF4-FFF2-40B4-BE49-F238E27FC236}">
                <a16:creationId xmlns:a16="http://schemas.microsoft.com/office/drawing/2014/main" id="{0BF8449C-26FD-446A-9C3D-F55C991F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384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推、拉、握、转或按压</a:t>
            </a:r>
          </a:p>
        </p:txBody>
      </p:sp>
      <p:cxnSp>
        <p:nvCxnSpPr>
          <p:cNvPr id="35" name="line"/>
          <p:cNvCxnSpPr/>
          <p:nvPr/>
        </p:nvCxnSpPr>
        <p:spPr>
          <a:xfrm xmlns:a="http://schemas.openxmlformats.org/drawingml/2006/main">
            <a:off x="1809750" y="3171825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3D5"/>
            </a:solidFill>
            <a:prstDash val="solid"/>
          </a:ln>
        </p:spPr>
      </p:cxnSp>
      <p:sp>
        <p:nvSpPr>
          <p:cNvPr id="14" name="q-num-2">
            <a:extLst xmlns:a="http://schemas.openxmlformats.org/drawingml/2006/main">
              <a:ext uri="{FF2B5EF4-FFF2-40B4-BE49-F238E27FC236}">
                <a16:creationId xmlns:a16="http://schemas.microsoft.com/office/drawing/2014/main" id="{A25BAA34-096F-4F99-88E8-C8FD7FD2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q-head-2">
            <a:extLst xmlns:a="http://schemas.openxmlformats.org/drawingml/2006/main">
              <a:ext uri="{FF2B5EF4-FFF2-40B4-BE49-F238E27FC236}">
                <a16:creationId xmlns:a16="http://schemas.microsoft.com/office/drawing/2014/main" id="{B7D2EBAD-9A1A-4A7C-80FA-E76F945B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95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结果怎样变化</a:t>
            </a:r>
          </a:p>
        </p:txBody>
      </p:sp>
      <p:sp>
        <p:nvSpPr>
          <p:cNvPr id="16" name="q-body-2">
            <a:extLst xmlns:a="http://schemas.openxmlformats.org/drawingml/2006/main">
              <a:ext uri="{FF2B5EF4-FFF2-40B4-BE49-F238E27FC236}">
                <a16:creationId xmlns:a16="http://schemas.microsoft.com/office/drawing/2014/main" id="{6E54853E-84A0-42DF-8698-9CE171F8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385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动作方向和状态变化是否对应</a:t>
            </a:r>
          </a:p>
        </p:txBody>
      </p:sp>
      <p:cxnSp>
        <p:nvCxnSpPr>
          <p:cNvPr id="39" name="line"/>
          <p:cNvCxnSpPr/>
          <p:nvPr/>
        </p:nvCxnSpPr>
        <p:spPr>
          <a:xfrm xmlns:a="http://schemas.openxmlformats.org/drawingml/2006/main">
            <a:off x="1809750" y="4371975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3D5"/>
            </a:solidFill>
            <a:prstDash val="solid"/>
          </a:ln>
        </p:spPr>
      </p:cxnSp>
      <p:sp>
        <p:nvSpPr>
          <p:cNvPr id="18" name="q-num-3">
            <a:extLst xmlns:a="http://schemas.openxmlformats.org/drawingml/2006/main">
              <a:ext uri="{FF2B5EF4-FFF2-40B4-BE49-F238E27FC236}">
                <a16:creationId xmlns:a16="http://schemas.microsoft.com/office/drawing/2014/main" id="{7C3B52B6-3385-4797-A58E-968E7908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A94A43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94A43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q-head-3">
            <a:extLst xmlns:a="http://schemas.openxmlformats.org/drawingml/2006/main">
              <a:ext uri="{FF2B5EF4-FFF2-40B4-BE49-F238E27FC236}">
                <a16:creationId xmlns:a16="http://schemas.microsoft.com/office/drawing/2014/main" id="{15053263-001C-400E-BF54-42091910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96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风险是否清楚</a:t>
            </a:r>
          </a:p>
        </p:txBody>
      </p:sp>
      <p:sp>
        <p:nvSpPr>
          <p:cNvPr id="20" name="q-body-3">
            <a:extLst xmlns:a="http://schemas.openxmlformats.org/drawingml/2006/main">
              <a:ext uri="{FF2B5EF4-FFF2-40B4-BE49-F238E27FC236}">
                <a16:creationId xmlns:a16="http://schemas.microsoft.com/office/drawing/2014/main" id="{AAC27D8B-19A0-42A2-B98E-C82CC707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387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高风险操作是否有醒目的提示</a:t>
            </a:r>
          </a:p>
        </p:txBody>
      </p:sp>
      <p:cxnSp>
        <p:nvCxnSpPr>
          <p:cNvPr id="43" name="line"/>
          <p:cNvCxnSpPr/>
          <p:nvPr/>
        </p:nvCxnSpPr>
        <p:spPr>
          <a:xfrm xmlns:a="http://schemas.openxmlformats.org/drawingml/2006/main">
            <a:off x="1809750" y="5572125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3D5"/>
            </a:solidFill>
            <a:prstDash val="solid"/>
          </a:ln>
        </p:spPr>
      </p:cxn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095B1159-60C8-46AE-9CA9-A55C9704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10013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e14d8c9e548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3">
            <a:extLst xmlns:a="http://schemas.openxmlformats.org/drawingml/2006/main">
              <a:ext uri="{FF2B5EF4-FFF2-40B4-BE49-F238E27FC236}">
                <a16:creationId xmlns:a16="http://schemas.microsoft.com/office/drawing/2014/main" id="{E670A625-4DE5-4B90-BEA9-9FE51DA6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03</a:t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9FC34B18-0107-4FB8-9D39-84D4302B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四类产品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8567BCC1-7DA1-4073-A102-3B932387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案例范围</a:t>
            </a:r>
          </a:p>
        </p:txBody>
      </p:sp>
      <p:cxnSp>
        <p:nvCxnSpPr>
          <p:cNvPr id="31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sp>
        <p:nvSpPr>
          <p:cNvPr id="6" name="cat-num-0">
            <a:extLst xmlns:a="http://schemas.openxmlformats.org/drawingml/2006/main">
              <a:ext uri="{FF2B5EF4-FFF2-40B4-BE49-F238E27FC236}">
                <a16:creationId xmlns:a16="http://schemas.microsoft.com/office/drawing/2014/main" id="{D3D101DD-72F7-4843-8A3D-524FF53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cat-product-0">
            <a:extLst xmlns:a="http://schemas.openxmlformats.org/drawingml/2006/main">
              <a:ext uri="{FF2B5EF4-FFF2-40B4-BE49-F238E27FC236}">
                <a16:creationId xmlns:a16="http://schemas.microsoft.com/office/drawing/2014/main" id="{6CA9C817-07A1-468A-91F2-9795D77E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620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门五金</a:t>
            </a:r>
          </a:p>
        </p:txBody>
      </p:sp>
      <p:sp>
        <p:nvSpPr>
          <p:cNvPr id="8" name="cat-action-0">
            <a:extLst xmlns:a="http://schemas.openxmlformats.org/drawingml/2006/main">
              <a:ext uri="{FF2B5EF4-FFF2-40B4-BE49-F238E27FC236}">
                <a16:creationId xmlns:a16="http://schemas.microsoft.com/office/drawing/2014/main" id="{867E0175-47F8-4D08-8F52-66E8A476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81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推与拉</a:t>
            </a:r>
          </a:p>
        </p:txBody>
      </p:sp>
      <p:sp>
        <p:nvSpPr>
          <p:cNvPr id="9" name="cat-desc-0">
            <a:extLst xmlns:a="http://schemas.openxmlformats.org/drawingml/2006/main">
              <a:ext uri="{FF2B5EF4-FFF2-40B4-BE49-F238E27FC236}">
                <a16:creationId xmlns:a16="http://schemas.microsoft.com/office/drawing/2014/main" id="{EDBA86B5-B10C-4034-B373-33E40B13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接触面积和抓握空间提示开门动作</a:t>
            </a:r>
          </a:p>
        </p:txBody>
      </p:sp>
      <p:cxnSp>
        <p:nvCxnSpPr>
          <p:cNvPr id="36" name="line"/>
          <p:cNvCxnSpPr/>
          <p:nvPr/>
        </p:nvCxnSpPr>
        <p:spPr>
          <a:xfrm xmlns:a="http://schemas.openxmlformats.org/drawingml/2006/main">
            <a:off x="666750" y="2047875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0"/>
            </a:solidFill>
            <a:prstDash val="solid"/>
          </a:ln>
        </p:spPr>
      </p:cxnSp>
      <p:sp>
        <p:nvSpPr>
          <p:cNvPr id="11" name="cat-num-1">
            <a:extLst xmlns:a="http://schemas.openxmlformats.org/drawingml/2006/main">
              <a:ext uri="{FF2B5EF4-FFF2-40B4-BE49-F238E27FC236}">
                <a16:creationId xmlns:a16="http://schemas.microsoft.com/office/drawing/2014/main" id="{8D65C54D-CEF7-4030-8DFC-95F4E55A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cat-product-1">
            <a:extLst xmlns:a="http://schemas.openxmlformats.org/drawingml/2006/main">
              <a:ext uri="{FF2B5EF4-FFF2-40B4-BE49-F238E27FC236}">
                <a16:creationId xmlns:a16="http://schemas.microsoft.com/office/drawing/2014/main" id="{96DC3680-2C46-42C3-B486-41088BA2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622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电热水壶</a:t>
            </a:r>
          </a:p>
        </p:txBody>
      </p:sp>
      <p:sp>
        <p:nvSpPr>
          <p:cNvPr id="13" name="cat-action-1">
            <a:extLst xmlns:a="http://schemas.openxmlformats.org/drawingml/2006/main">
              <a:ext uri="{FF2B5EF4-FFF2-40B4-BE49-F238E27FC236}">
                <a16:creationId xmlns:a16="http://schemas.microsoft.com/office/drawing/2014/main" id="{E9E12ADC-0951-41BF-81FE-555BB2C5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812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握持与倾倒</a:t>
            </a:r>
          </a:p>
        </p:txBody>
      </p:sp>
      <p:sp>
        <p:nvSpPr>
          <p:cNvPr id="14" name="cat-desc-1">
            <a:extLst xmlns:a="http://schemas.openxmlformats.org/drawingml/2006/main">
              <a:ext uri="{FF2B5EF4-FFF2-40B4-BE49-F238E27FC236}">
                <a16:creationId xmlns:a16="http://schemas.microsoft.com/office/drawing/2014/main" id="{81C89D0D-CF7E-43BA-A960-344187F7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把手、壶嘴和重心共同限定动作顺序</a:t>
            </a:r>
          </a:p>
        </p:txBody>
      </p:sp>
      <p:cxnSp>
        <p:nvCxnSpPr>
          <p:cNvPr id="41" name="line"/>
          <p:cNvCxnSpPr/>
          <p:nvPr/>
        </p:nvCxnSpPr>
        <p:spPr>
          <a:xfrm xmlns:a="http://schemas.openxmlformats.org/drawingml/2006/main">
            <a:off x="666750" y="3248025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0"/>
            </a:solidFill>
            <a:prstDash val="solid"/>
          </a:ln>
        </p:spPr>
      </p:cxnSp>
      <p:sp>
        <p:nvSpPr>
          <p:cNvPr id="16" name="cat-num-2">
            <a:extLst xmlns:a="http://schemas.openxmlformats.org/drawingml/2006/main">
              <a:ext uri="{FF2B5EF4-FFF2-40B4-BE49-F238E27FC236}">
                <a16:creationId xmlns:a16="http://schemas.microsoft.com/office/drawing/2014/main" id="{B5E3603E-A155-4DAD-A683-029B081D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cat-product-2">
            <a:extLst xmlns:a="http://schemas.openxmlformats.org/drawingml/2006/main">
              <a:ext uri="{FF2B5EF4-FFF2-40B4-BE49-F238E27FC236}">
                <a16:creationId xmlns:a16="http://schemas.microsoft.com/office/drawing/2014/main" id="{7D14E6DD-8DA9-4995-B24B-5ED2125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控制旋钮</a:t>
            </a:r>
          </a:p>
        </p:txBody>
      </p:sp>
      <p:sp>
        <p:nvSpPr>
          <p:cNvPr id="18" name="cat-action-2">
            <a:extLst xmlns:a="http://schemas.openxmlformats.org/drawingml/2006/main">
              <a:ext uri="{FF2B5EF4-FFF2-40B4-BE49-F238E27FC236}">
                <a16:creationId xmlns:a16="http://schemas.microsoft.com/office/drawing/2014/main" id="{AF3AD60B-6DA3-43C0-89FF-4C644EAD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814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旋转调节</a:t>
            </a:r>
          </a:p>
        </p:txBody>
      </p:sp>
      <p:sp>
        <p:nvSpPr>
          <p:cNvPr id="19" name="cat-desc-2">
            <a:extLst xmlns:a="http://schemas.openxmlformats.org/drawingml/2006/main">
              <a:ext uri="{FF2B5EF4-FFF2-40B4-BE49-F238E27FC236}">
                <a16:creationId xmlns:a16="http://schemas.microsoft.com/office/drawing/2014/main" id="{0F6F8960-FF43-4234-A375-59DD1BC4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814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滚花、指针和刻度表示连续变化</a:t>
            </a:r>
          </a:p>
        </p:txBody>
      </p:sp>
      <p:cxnSp>
        <p:nvCxnSpPr>
          <p:cNvPr id="46" name="line"/>
          <p:cNvCxnSpPr/>
          <p:nvPr/>
        </p:nvCxnSpPr>
        <p:spPr>
          <a:xfrm xmlns:a="http://schemas.openxmlformats.org/drawingml/2006/main">
            <a:off x="666750" y="4448175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0"/>
            </a:solidFill>
            <a:prstDash val="solid"/>
          </a:ln>
        </p:spPr>
      </p:cxnSp>
      <p:sp>
        <p:nvSpPr>
          <p:cNvPr id="21" name="cat-num-3">
            <a:extLst xmlns:a="http://schemas.openxmlformats.org/drawingml/2006/main">
              <a:ext uri="{FF2B5EF4-FFF2-40B4-BE49-F238E27FC236}">
                <a16:creationId xmlns:a16="http://schemas.microsoft.com/office/drawing/2014/main" id="{1B9C5EDA-0C26-4F38-B230-C822113D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cat-product-3">
            <a:extLst xmlns:a="http://schemas.openxmlformats.org/drawingml/2006/main">
              <a:ext uri="{FF2B5EF4-FFF2-40B4-BE49-F238E27FC236}">
                <a16:creationId xmlns:a16="http://schemas.microsoft.com/office/drawing/2014/main" id="{8B3A9CF9-656E-4B53-8B3A-619C3A9E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625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急停按钮</a:t>
            </a:r>
          </a:p>
        </p:txBody>
      </p:sp>
      <p:sp>
        <p:nvSpPr>
          <p:cNvPr id="23" name="cat-action-3">
            <a:extLst xmlns:a="http://schemas.openxmlformats.org/drawingml/2006/main">
              <a:ext uri="{FF2B5EF4-FFF2-40B4-BE49-F238E27FC236}">
                <a16:creationId xmlns:a16="http://schemas.microsoft.com/office/drawing/2014/main" id="{07CB813A-C47D-4D00-98B1-726B03AF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815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紧急停止</a:t>
            </a:r>
          </a:p>
        </p:txBody>
      </p:sp>
      <p:sp>
        <p:nvSpPr>
          <p:cNvPr id="24" name="cat-desc-3">
            <a:extLst xmlns:a="http://schemas.openxmlformats.org/drawingml/2006/main">
              <a:ext uri="{FF2B5EF4-FFF2-40B4-BE49-F238E27FC236}">
                <a16:creationId xmlns:a16="http://schemas.microsoft.com/office/drawing/2014/main" id="{84F2D115-EA29-4FDF-A52A-2F2FD8D7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815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尺寸、颜色和防护结构提示风险等级</a:t>
            </a:r>
          </a:p>
        </p:txBody>
      </p:sp>
      <p:cxnSp>
        <p:nvCxnSpPr>
          <p:cNvPr id="51" name="line"/>
          <p:cNvCxnSpPr/>
          <p:nvPr/>
        </p:nvCxnSpPr>
        <p:spPr>
          <a:xfrm xmlns:a="http://schemas.openxmlformats.org/drawingml/2006/main">
            <a:off x="666750" y="5648325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0"/>
            </a:solidFill>
            <a:prstDash val="solid"/>
          </a:ln>
        </p:spPr>
      </p:cxnSp>
      <p:sp>
        <p:nvSpPr>
          <p:cNvPr id="26" name="page-4">
            <a:extLst xmlns:a="http://schemas.openxmlformats.org/drawingml/2006/main">
              <a:ext uri="{FF2B5EF4-FFF2-40B4-BE49-F238E27FC236}">
                <a16:creationId xmlns:a16="http://schemas.microsoft.com/office/drawing/2014/main" id="{C93AE3F3-614A-4DB7-AB9D-7450AD7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1657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b63fbcb3846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4">
            <a:extLst xmlns:a="http://schemas.openxmlformats.org/drawingml/2006/main">
              <a:ext uri="{FF2B5EF4-FFF2-40B4-BE49-F238E27FC236}">
                <a16:creationId xmlns:a16="http://schemas.microsoft.com/office/drawing/2014/main" id="{AA839A7A-F2BB-4423-97C6-A3012BBD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04</a:t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AB48A657-2F4C-4469-ADE3-952F7844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推与拉：门五金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2875BB2E-1172-44C1-AA8C-2C519561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案例分析</a:t>
            </a:r>
          </a:p>
        </p:txBody>
      </p:sp>
      <p:cxnSp>
        <p:nvCxnSpPr>
          <p:cNvPr id="17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d642901a24fbb"/>
          <a:srcRect xmlns:a="http://schemas.openxmlformats.org/drawingml/2006/main" l="8000" t="0" r="8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257300"/>
            <a:ext cx="53340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case-index-5">
            <a:extLst xmlns:a="http://schemas.openxmlformats.org/drawingml/2006/main">
              <a:ext uri="{FF2B5EF4-FFF2-40B4-BE49-F238E27FC236}">
                <a16:creationId xmlns:a16="http://schemas.microsoft.com/office/drawing/2014/main" id="{C3ABA564-0CE5-4EB7-A8D2-22E4D79F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case-head-5-0">
            <a:extLst xmlns:a="http://schemas.openxmlformats.org/drawingml/2006/main">
              <a:ext uri="{FF2B5EF4-FFF2-40B4-BE49-F238E27FC236}">
                <a16:creationId xmlns:a16="http://schemas.microsoft.com/office/drawing/2014/main" id="{0F6D2098-B01B-4BFF-8EA8-731C1BD9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平板提示向前推</a:t>
            </a:r>
          </a:p>
        </p:txBody>
      </p:sp>
      <p:sp>
        <p:nvSpPr>
          <p:cNvPr id="9" name="case-body-5-0">
            <a:extLst xmlns:a="http://schemas.openxmlformats.org/drawingml/2006/main">
              <a:ext uri="{FF2B5EF4-FFF2-40B4-BE49-F238E27FC236}">
                <a16:creationId xmlns:a16="http://schemas.microsoft.com/office/drawing/2014/main" id="{7BB949BF-467F-4054-99BD-B5BCD02C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表面宽而平，没有抓握空间，适合用手掌施力。</a:t>
            </a:r>
          </a:p>
        </p:txBody>
      </p:sp>
      <p:sp>
        <p:nvSpPr>
          <p:cNvPr id="10" name="case-head-5-1">
            <a:extLst xmlns:a="http://schemas.openxmlformats.org/drawingml/2006/main">
              <a:ext uri="{FF2B5EF4-FFF2-40B4-BE49-F238E27FC236}">
                <a16:creationId xmlns:a16="http://schemas.microsoft.com/office/drawing/2014/main" id="{EB11F21D-7AD7-4050-8AA0-B6DF076D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拉手提示向后拉</a:t>
            </a:r>
          </a:p>
        </p:txBody>
      </p:sp>
      <p:sp>
        <p:nvSpPr>
          <p:cNvPr id="11" name="case-body-5-1">
            <a:extLst xmlns:a="http://schemas.openxmlformats.org/drawingml/2006/main">
              <a:ext uri="{FF2B5EF4-FFF2-40B4-BE49-F238E27FC236}">
                <a16:creationId xmlns:a16="http://schemas.microsoft.com/office/drawing/2014/main" id="{B5C23B38-0C4D-471B-9DFA-5BF0FBAD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立体拉手为手指留出空间，抓握后自然向身体方向用力。</a:t>
            </a:r>
          </a:p>
        </p:txBody>
      </p:sp>
      <p:sp>
        <p:nvSpPr>
          <p:cNvPr id="12" name="page-5">
            <a:extLst xmlns:a="http://schemas.openxmlformats.org/drawingml/2006/main">
              <a:ext uri="{FF2B5EF4-FFF2-40B4-BE49-F238E27FC236}">
                <a16:creationId xmlns:a16="http://schemas.microsoft.com/office/drawing/2014/main" id="{90FAF063-11CA-4C68-A371-21354F9E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0145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4d6bd8d6d4c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5">
            <a:extLst xmlns:a="http://schemas.openxmlformats.org/drawingml/2006/main">
              <a:ext uri="{FF2B5EF4-FFF2-40B4-BE49-F238E27FC236}">
                <a16:creationId xmlns:a16="http://schemas.microsoft.com/office/drawing/2014/main" id="{28396F50-8034-40AE-AC1A-D07B3A33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05</a:t>
            </a:r>
          </a:p>
        </p:txBody>
      </p:sp>
      <p:sp>
        <p:nvSpPr>
          <p:cNvPr id="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1ACDBA08-5409-43C0-9697-0CDE9638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握持与倾倒：电热水壶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84DEC589-D537-4A2F-9957-E3D5AE24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案例分析</a:t>
            </a:r>
          </a:p>
        </p:txBody>
      </p:sp>
      <p:cxnSp>
        <p:nvCxnSpPr>
          <p:cNvPr id="17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7eaffef024fee"/>
          <a:srcRect xmlns:a="http://schemas.openxmlformats.org/drawingml/2006/main" l="8000" t="0" r="8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257300"/>
            <a:ext cx="53340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case-index-6">
            <a:extLst xmlns:a="http://schemas.openxmlformats.org/drawingml/2006/main">
              <a:ext uri="{FF2B5EF4-FFF2-40B4-BE49-F238E27FC236}">
                <a16:creationId xmlns:a16="http://schemas.microsoft.com/office/drawing/2014/main" id="{7C875618-053B-42D7-AB6F-2B65865F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097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8" name="case-head-6-0">
            <a:extLst xmlns:a="http://schemas.openxmlformats.org/drawingml/2006/main">
              <a:ext uri="{FF2B5EF4-FFF2-40B4-BE49-F238E27FC236}">
                <a16:creationId xmlns:a16="http://schemas.microsoft.com/office/drawing/2014/main" id="{0A896FA4-B4C5-446B-A5DD-FCE42384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把手规定握持位置</a:t>
            </a:r>
          </a:p>
        </p:txBody>
      </p:sp>
      <p:sp>
        <p:nvSpPr>
          <p:cNvPr id="9" name="case-body-6-0">
            <a:extLst xmlns:a="http://schemas.openxmlformats.org/drawingml/2006/main">
              <a:ext uri="{FF2B5EF4-FFF2-40B4-BE49-F238E27FC236}">
                <a16:creationId xmlns:a16="http://schemas.microsoft.com/office/drawing/2014/main" id="{5E25DF65-38B8-4870-B65B-13C8B3EF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弧形空间容纳手指，隔热材料说明这里可以安全接触。</a:t>
            </a:r>
          </a:p>
        </p:txBody>
      </p:sp>
      <p:sp>
        <p:nvSpPr>
          <p:cNvPr id="10" name="case-head-6-1">
            <a:extLst xmlns:a="http://schemas.openxmlformats.org/drawingml/2006/main">
              <a:ext uri="{FF2B5EF4-FFF2-40B4-BE49-F238E27FC236}">
                <a16:creationId xmlns:a16="http://schemas.microsoft.com/office/drawing/2014/main" id="{6C24F703-E43C-4D7F-9CFD-2B226002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壶嘴说明出水方向</a:t>
            </a:r>
          </a:p>
        </p:txBody>
      </p:sp>
      <p:sp>
        <p:nvSpPr>
          <p:cNvPr id="11" name="case-body-6-1">
            <a:extLst xmlns:a="http://schemas.openxmlformats.org/drawingml/2006/main">
              <a:ext uri="{FF2B5EF4-FFF2-40B4-BE49-F238E27FC236}">
                <a16:creationId xmlns:a16="http://schemas.microsoft.com/office/drawing/2014/main" id="{1933285F-2F11-4D44-9F57-C043A731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壶嘴朝向与壶身重心一起提示倾倒方向。</a:t>
            </a:r>
          </a:p>
        </p:txBody>
      </p:sp>
      <p:sp>
        <p:nvSpPr>
          <p:cNvPr id="12" name="page-6">
            <a:extLst xmlns:a="http://schemas.openxmlformats.org/drawingml/2006/main">
              <a:ext uri="{FF2B5EF4-FFF2-40B4-BE49-F238E27FC236}">
                <a16:creationId xmlns:a16="http://schemas.microsoft.com/office/drawing/2014/main" id="{0AB6ED65-B62F-43DE-BFAA-40478D7A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8557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3fa78f2b84a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6">
            <a:extLst xmlns:a="http://schemas.openxmlformats.org/drawingml/2006/main">
              <a:ext uri="{FF2B5EF4-FFF2-40B4-BE49-F238E27FC236}">
                <a16:creationId xmlns:a16="http://schemas.microsoft.com/office/drawing/2014/main" id="{04B9EF37-1867-4EF1-A8A8-B09AF2D9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06</a:t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D43662CF-8EF9-47B9-80D2-21B6C857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旋转调节：控制旋钮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A8F766B1-80DE-4AC9-9D89-C3267B99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案例分析</a:t>
            </a:r>
          </a:p>
        </p:txBody>
      </p:sp>
      <p:cxnSp>
        <p:nvCxnSpPr>
          <p:cNvPr id="17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00c6d0ca04d47"/>
          <a:srcRect xmlns:a="http://schemas.openxmlformats.org/drawingml/2006/main" l="8000" t="0" r="8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257300"/>
            <a:ext cx="53340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case-index-7">
            <a:extLst xmlns:a="http://schemas.openxmlformats.org/drawingml/2006/main">
              <a:ext uri="{FF2B5EF4-FFF2-40B4-BE49-F238E27FC236}">
                <a16:creationId xmlns:a16="http://schemas.microsoft.com/office/drawing/2014/main" id="{5B2C9291-0AEE-4620-8D1B-80364403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8" name="case-head-7-0">
            <a:extLst xmlns:a="http://schemas.openxmlformats.org/drawingml/2006/main">
              <a:ext uri="{FF2B5EF4-FFF2-40B4-BE49-F238E27FC236}">
                <a16:creationId xmlns:a16="http://schemas.microsoft.com/office/drawing/2014/main" id="{214F40A7-7581-4752-91F4-A227A9EF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圆形和滚花提示旋转</a:t>
            </a:r>
          </a:p>
        </p:txBody>
      </p:sp>
      <p:sp>
        <p:nvSpPr>
          <p:cNvPr id="9" name="case-body-7-0">
            <a:extLst xmlns:a="http://schemas.openxmlformats.org/drawingml/2006/main">
              <a:ext uri="{FF2B5EF4-FFF2-40B4-BE49-F238E27FC236}">
                <a16:creationId xmlns:a16="http://schemas.microsoft.com/office/drawing/2014/main" id="{6348B8D7-685A-4407-997D-D6110E6C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圆周轮廓允许连续转动，边缘纹理增加抓握摩擦。</a:t>
            </a:r>
          </a:p>
        </p:txBody>
      </p:sp>
      <p:sp>
        <p:nvSpPr>
          <p:cNvPr id="10" name="case-head-7-1">
            <a:extLst xmlns:a="http://schemas.openxmlformats.org/drawingml/2006/main">
              <a:ext uri="{FF2B5EF4-FFF2-40B4-BE49-F238E27FC236}">
                <a16:creationId xmlns:a16="http://schemas.microsoft.com/office/drawing/2014/main" id="{1173ACEC-8C11-444A-B7D2-7FD2856F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指针和刻度建立映射</a:t>
            </a:r>
          </a:p>
        </p:txBody>
      </p:sp>
      <p:sp>
        <p:nvSpPr>
          <p:cNvPr id="11" name="case-body-7-1">
            <a:extLst xmlns:a="http://schemas.openxmlformats.org/drawingml/2006/main">
              <a:ext uri="{FF2B5EF4-FFF2-40B4-BE49-F238E27FC236}">
                <a16:creationId xmlns:a16="http://schemas.microsoft.com/office/drawing/2014/main" id="{CE7693F3-A1D9-498C-BBA6-5123772E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指针位置对应刻度变化，用户能够判断增减方向。</a:t>
            </a:r>
          </a:p>
        </p:txBody>
      </p:sp>
      <p:sp>
        <p:nvSpPr>
          <p:cNvPr id="12" name="page-7">
            <a:extLst xmlns:a="http://schemas.openxmlformats.org/drawingml/2006/main">
              <a:ext uri="{FF2B5EF4-FFF2-40B4-BE49-F238E27FC236}">
                <a16:creationId xmlns:a16="http://schemas.microsoft.com/office/drawing/2014/main" id="{8BF7EDBF-5996-41BF-8B71-065ACE72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5477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0d3d911de4b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7">
            <a:extLst xmlns:a="http://schemas.openxmlformats.org/drawingml/2006/main">
              <a:ext uri="{FF2B5EF4-FFF2-40B4-BE49-F238E27FC236}">
                <a16:creationId xmlns:a16="http://schemas.microsoft.com/office/drawing/2014/main" id="{65702C31-85B4-423A-94F6-80C212C3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07</a:t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61C7DEE7-9775-4251-A666-90BF3CE2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紧急停止：急停按钮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79DA40DC-94E1-4EDC-BE50-80C4777C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案例分析</a:t>
            </a:r>
          </a:p>
        </p:txBody>
      </p:sp>
      <p:cxnSp>
        <p:nvCxnSpPr>
          <p:cNvPr id="17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1d04178fb46e4"/>
          <a:srcRect xmlns:a="http://schemas.openxmlformats.org/drawingml/2006/main" l="8000" t="0" r="8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257300"/>
            <a:ext cx="53340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case-index-8">
            <a:extLst xmlns:a="http://schemas.openxmlformats.org/drawingml/2006/main">
              <a:ext uri="{FF2B5EF4-FFF2-40B4-BE49-F238E27FC236}">
                <a16:creationId xmlns:a16="http://schemas.microsoft.com/office/drawing/2014/main" id="{48E867F7-5C74-43C6-BDD0-C18099CF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097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94A4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94A43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8" name="case-head-8-0">
            <a:extLst xmlns:a="http://schemas.openxmlformats.org/drawingml/2006/main">
              <a:ext uri="{FF2B5EF4-FFF2-40B4-BE49-F238E27FC236}">
                <a16:creationId xmlns:a16="http://schemas.microsoft.com/office/drawing/2014/main" id="{251F3ADD-0637-43FF-808D-4775597B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大尺寸便于快速按下</a:t>
            </a:r>
          </a:p>
        </p:txBody>
      </p:sp>
      <p:sp>
        <p:nvSpPr>
          <p:cNvPr id="9" name="case-body-8-0">
            <a:extLst xmlns:a="http://schemas.openxmlformats.org/drawingml/2006/main">
              <a:ext uri="{FF2B5EF4-FFF2-40B4-BE49-F238E27FC236}">
                <a16:creationId xmlns:a16="http://schemas.microsoft.com/office/drawing/2014/main" id="{A9F0353D-0037-44F1-993A-D6424469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蘑菇头突出且接触面积大，紧急情况下更容易命中。</a:t>
            </a:r>
          </a:p>
        </p:txBody>
      </p:sp>
      <p:sp>
        <p:nvSpPr>
          <p:cNvPr id="10" name="case-head-8-1">
            <a:extLst xmlns:a="http://schemas.openxmlformats.org/drawingml/2006/main">
              <a:ext uri="{FF2B5EF4-FFF2-40B4-BE49-F238E27FC236}">
                <a16:creationId xmlns:a16="http://schemas.microsoft.com/office/drawing/2014/main" id="{1C2C3E13-7FCE-45BC-AB12-2650640D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红黄配色突出风险</a:t>
            </a:r>
          </a:p>
        </p:txBody>
      </p:sp>
      <p:sp>
        <p:nvSpPr>
          <p:cNvPr id="11" name="case-body-8-1">
            <a:extLst xmlns:a="http://schemas.openxmlformats.org/drawingml/2006/main">
              <a:ext uri="{FF2B5EF4-FFF2-40B4-BE49-F238E27FC236}">
                <a16:creationId xmlns:a16="http://schemas.microsoft.com/office/drawing/2014/main" id="{513DF774-2245-4F75-9E5C-6E6C9046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高对比颜色显示重要性，防护结构同时减少误触。</a:t>
            </a:r>
          </a:p>
        </p:txBody>
      </p:sp>
      <p:sp>
        <p:nvSpPr>
          <p:cNvPr id="12" name="page-8">
            <a:extLst xmlns:a="http://schemas.openxmlformats.org/drawingml/2006/main">
              <a:ext uri="{FF2B5EF4-FFF2-40B4-BE49-F238E27FC236}">
                <a16:creationId xmlns:a16="http://schemas.microsoft.com/office/drawing/2014/main" id="{F3823C59-6D5D-4954-9D18-7CBE3D64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78460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2b424209045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8">
            <a:extLst xmlns:a="http://schemas.openxmlformats.org/drawingml/2006/main">
              <a:ext uri="{FF2B5EF4-FFF2-40B4-BE49-F238E27FC236}">
                <a16:creationId xmlns:a16="http://schemas.microsoft.com/office/drawing/2014/main" id="{A9CFDBF7-E8A2-4DC9-9D80-300298B1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08</a:t>
            </a:r>
          </a:p>
        </p:txBody>
      </p:sp>
      <p:sp>
        <p:nvSpPr>
          <p:cNvPr id="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21AB5797-B9EA-4101-9DA9-40E28C53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四个案例对比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6512914A-E2C2-4443-9583-9F2E2602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形态线索与信息</a:t>
            </a:r>
          </a:p>
        </p:txBody>
      </p:sp>
      <p:cxnSp>
        <p:nvCxnSpPr>
          <p:cNvPr id="12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13811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809750"/>
                <a:gridCol w="2714625"/>
                <a:gridCol w="2714625"/>
                <a:gridCol w="2133600"/>
              </a:tblGrid>
              <a:tr h="800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产品</a:t>
                      </a:r>
                    </a:p>
                  </a:txBody>
                  <a:tcPr marL="95250" marR="95250" marT="95250" marB="76200" anchor="ctr">
                    <a:solidFill>
                      <a:srgbClr val="4E53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主要信息</a:t>
                      </a:r>
                    </a:p>
                  </a:txBody>
                  <a:tcPr marL="95250" marR="95250" marT="95250" marB="76200" anchor="ctr">
                    <a:solidFill>
                      <a:srgbClr val="4E53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形态线索</a:t>
                      </a:r>
                    </a:p>
                  </a:txBody>
                  <a:tcPr marL="95250" marR="95250" marT="95250" marB="76200" anchor="ctr">
                    <a:solidFill>
                      <a:srgbClr val="4E53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对应关系</a:t>
                      </a:r>
                    </a:p>
                  </a:txBody>
                  <a:tcPr marL="95250" marR="95250" marT="95250" marB="76200" anchor="ctr">
                    <a:solidFill>
                      <a:srgbClr val="4E53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反馈或约束</a:t>
                      </a:r>
                    </a:p>
                  </a:txBody>
                  <a:tcPr marL="95250" marR="95250" marT="95250" marB="76200" anchor="ctr">
                    <a:solidFill>
                      <a:srgbClr val="4E535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门五金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推、拉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平板、拉手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施力方式与开门方向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抓握空间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电热水壶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握持、倾倒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把手、壶嘴、重心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握姿与出水方向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隔热和防烫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控制旋钮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连续调节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圆形、滚花、指针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旋转方向与增减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刻度和阻尼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急停按钮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紧急停止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大体量、红黄对比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拍击与停机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303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防护圈和复位</a:t>
                      </a:r>
                    </a:p>
                  </a:txBody>
                  <a:tcPr marL="95250" marR="95250" marT="95250" marB="76200" anchor="ctr">
                    <a:solidFill>
                      <a:srgbClr val="F4F5F5"/>
                    </a:solidFill>
                  </a:tcPr>
                </a:tc>
              </a:tr>
            </a:tbl>
          </a:graphicData>
        </a:graphic>
      </p:graphicFrame>
      <p:sp>
        <p:nvSpPr>
          <p:cNvPr id="7" name="page-9">
            <a:extLst xmlns:a="http://schemas.openxmlformats.org/drawingml/2006/main">
              <a:ext uri="{FF2B5EF4-FFF2-40B4-BE49-F238E27FC236}">
                <a16:creationId xmlns:a16="http://schemas.microsoft.com/office/drawing/2014/main" id="{31B3704E-0800-47D7-8788-47E6B040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939058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f19e72e2944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9">
            <a:extLst xmlns:a="http://schemas.openxmlformats.org/drawingml/2006/main">
              <a:ext uri="{FF2B5EF4-FFF2-40B4-BE49-F238E27FC236}">
                <a16:creationId xmlns:a16="http://schemas.microsoft.com/office/drawing/2014/main" id="{6EEEBD38-D93D-49E5-8232-388CA4F5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09</a:t>
            </a:r>
          </a:p>
        </p:txBody>
      </p:sp>
      <p:sp>
        <p:nvSpPr>
          <p:cNvPr id="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FDEFC019-8E63-4B17-B9B8-800C4EE7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E2F60F01-71DD-4D73-A273-36716906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形态语义失效的原因</a:t>
            </a:r>
          </a:p>
        </p:txBody>
      </p:sp>
      <p:cxnSp>
        <p:nvCxnSpPr>
          <p:cNvPr id="20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sp>
        <p:nvSpPr>
          <p:cNvPr id="6" name="issue-head-0">
            <a:extLst xmlns:a="http://schemas.openxmlformats.org/drawingml/2006/main">
              <a:ext uri="{FF2B5EF4-FFF2-40B4-BE49-F238E27FC236}">
                <a16:creationId xmlns:a16="http://schemas.microsoft.com/office/drawing/2014/main" id="{1F2A4684-B3D9-4E61-AB3A-C8EB194D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93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9"/>
          </a:solidFill>
          <a:ln xmlns:a="http://schemas.openxmlformats.org/drawingml/2006/main" w="9525">
            <a:solidFill>
              <a:srgbClr val="D3D7D9"/>
            </a:solidFill>
            <a:prstDash val="solid"/>
          </a:ln>
        </p:spPr>
        <p:txBody>
          <a:bodyPr xmlns:a="http://schemas.openxmlformats.org/drawingml/2006/main" wrap="square" lIns="152400" tIns="1143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动作冲突</a:t>
            </a:r>
          </a:p>
        </p:txBody>
      </p:sp>
      <p:sp>
        <p:nvSpPr>
          <p:cNvPr id="7" name="issue-body-0">
            <a:extLst xmlns:a="http://schemas.openxmlformats.org/drawingml/2006/main">
              <a:ext uri="{FF2B5EF4-FFF2-40B4-BE49-F238E27FC236}">
                <a16:creationId xmlns:a16="http://schemas.microsoft.com/office/drawing/2014/main" id="{82DD706C-C14B-4A90-A5CE-CFC2F2D7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看起来能拉，实际只能推。</a:t>
            </a:r>
          </a:p>
        </p:txBody>
      </p:sp>
      <p:sp>
        <p:nvSpPr>
          <p:cNvPr id="8" name="issue-head-1">
            <a:extLst xmlns:a="http://schemas.openxmlformats.org/drawingml/2006/main">
              <a:ext uri="{FF2B5EF4-FFF2-40B4-BE49-F238E27FC236}">
                <a16:creationId xmlns:a16="http://schemas.microsoft.com/office/drawing/2014/main" id="{9A603CF6-C38A-467C-A8AC-C1E7298C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3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9"/>
          </a:solidFill>
          <a:ln xmlns:a="http://schemas.openxmlformats.org/drawingml/2006/main" w="9525">
            <a:solidFill>
              <a:srgbClr val="D3D7D9"/>
            </a:solidFill>
            <a:prstDash val="solid"/>
          </a:ln>
        </p:spPr>
        <p:txBody>
          <a:bodyPr xmlns:a="http://schemas.openxmlformats.org/drawingml/2006/main" wrap="square" lIns="152400" tIns="1143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方向相反</a:t>
            </a:r>
          </a:p>
        </p:txBody>
      </p:sp>
      <p:sp>
        <p:nvSpPr>
          <p:cNvPr id="9" name="issue-body-1">
            <a:extLst xmlns:a="http://schemas.openxmlformats.org/drawingml/2006/main">
              <a:ext uri="{FF2B5EF4-FFF2-40B4-BE49-F238E27FC236}">
                <a16:creationId xmlns:a16="http://schemas.microsoft.com/office/drawing/2014/main" id="{093A6AFC-6310-4891-8538-0736CBBA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旋转方向与数值变化不符合习惯。</a:t>
            </a:r>
          </a:p>
        </p:txBody>
      </p:sp>
      <p:sp>
        <p:nvSpPr>
          <p:cNvPr id="10" name="issue-head-2">
            <a:extLst xmlns:a="http://schemas.openxmlformats.org/drawingml/2006/main">
              <a:ext uri="{FF2B5EF4-FFF2-40B4-BE49-F238E27FC236}">
                <a16:creationId xmlns:a16="http://schemas.microsoft.com/office/drawing/2014/main" id="{DF3434CC-284F-47AD-9DA2-B224B3A7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493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E3"/>
          </a:solidFill>
          <a:ln xmlns:a="http://schemas.openxmlformats.org/drawingml/2006/main" w="9525">
            <a:solidFill>
              <a:srgbClr val="D3D7D9"/>
            </a:solidFill>
            <a:prstDash val="solid"/>
          </a:ln>
        </p:spPr>
        <p:txBody>
          <a:bodyPr xmlns:a="http://schemas.openxmlformats.org/drawingml/2006/main" wrap="square" lIns="152400" tIns="1143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94A4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94A43"/>
                </a:solidFill>
                <a:latin typeface="微软雅黑"/>
                <a:ea typeface="微软雅黑"/>
                <a:cs typeface="微软雅黑"/>
              </a:rPr>
              <a:t>风险不明显</a:t>
            </a:r>
          </a:p>
        </p:txBody>
      </p:sp>
      <p:sp>
        <p:nvSpPr>
          <p:cNvPr id="11" name="issue-body-2">
            <a:extLst xmlns:a="http://schemas.openxmlformats.org/drawingml/2006/main">
              <a:ext uri="{FF2B5EF4-FFF2-40B4-BE49-F238E27FC236}">
                <a16:creationId xmlns:a16="http://schemas.microsoft.com/office/drawing/2014/main" id="{1E8D8FBE-E52A-461B-BCFE-0D962423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急停和普通按键在尺寸、位置或颜色上没有区别。</a:t>
            </a:r>
          </a:p>
        </p:txBody>
      </p:sp>
      <p:sp>
        <p:nvSpPr>
          <p:cNvPr id="12" name="issue-head-3">
            <a:extLst xmlns:a="http://schemas.openxmlformats.org/drawingml/2006/main">
              <a:ext uri="{FF2B5EF4-FFF2-40B4-BE49-F238E27FC236}">
                <a16:creationId xmlns:a16="http://schemas.microsoft.com/office/drawing/2014/main" id="{2DC80C57-1DAE-4A1C-8743-7EFBB674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93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9"/>
          </a:solidFill>
          <a:ln xmlns:a="http://schemas.openxmlformats.org/drawingml/2006/main" w="9525">
            <a:solidFill>
              <a:srgbClr val="D3D7D9"/>
            </a:solidFill>
            <a:prstDash val="solid"/>
          </a:ln>
        </p:spPr>
        <p:txBody>
          <a:bodyPr xmlns:a="http://schemas.openxmlformats.org/drawingml/2006/main" wrap="square" lIns="152400" tIns="1143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只靠文字说明</a:t>
            </a:r>
          </a:p>
        </p:txBody>
      </p:sp>
      <p:sp>
        <p:nvSpPr>
          <p:cNvPr id="13" name="issue-body-3">
            <a:extLst xmlns:a="http://schemas.openxmlformats.org/drawingml/2006/main">
              <a:ext uri="{FF2B5EF4-FFF2-40B4-BE49-F238E27FC236}">
                <a16:creationId xmlns:a16="http://schemas.microsoft.com/office/drawing/2014/main" id="{78E02FA5-94C6-4724-950E-F2A516F0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00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去掉标签后，用户无法判断功能。</a:t>
            </a:r>
          </a:p>
        </p:txBody>
      </p:sp>
      <p:sp>
        <p:nvSpPr>
          <p:cNvPr id="14" name="issue-standard">
            <a:extLst xmlns:a="http://schemas.openxmlformats.org/drawingml/2006/main">
              <a:ext uri="{FF2B5EF4-FFF2-40B4-BE49-F238E27FC236}">
                <a16:creationId xmlns:a16="http://schemas.microsoft.com/office/drawing/2014/main" id="{91BDF872-5A42-4CD8-9E0C-EAA98CBD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判断标准：产品外形应与真实动作保持一致。</a:t>
            </a:r>
          </a:p>
        </p:txBody>
      </p:sp>
      <p:sp>
        <p:nvSpPr>
          <p:cNvPr id="15" name="page-10">
            <a:extLst xmlns:a="http://schemas.openxmlformats.org/drawingml/2006/main">
              <a:ext uri="{FF2B5EF4-FFF2-40B4-BE49-F238E27FC236}">
                <a16:creationId xmlns:a16="http://schemas.microsoft.com/office/drawing/2014/main" id="{142E363B-B29E-4A1F-BFD3-BD92E46C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444640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1ce81d80846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number-10">
            <a:extLst xmlns:a="http://schemas.openxmlformats.org/drawingml/2006/main">
              <a:ext uri="{FF2B5EF4-FFF2-40B4-BE49-F238E27FC236}">
                <a16:creationId xmlns:a16="http://schemas.microsoft.com/office/drawing/2014/main" id="{B8A51894-A704-4D37-AA8C-83754EED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E5358"/>
                </a:solidFill>
                <a:latin typeface="微软雅黑"/>
                <a:ea typeface="微软雅黑"/>
                <a:cs typeface="微软雅黑"/>
              </a:rPr>
              <a:t>◆  10</a:t>
            </a:r>
          </a:p>
        </p:txBody>
      </p:sp>
      <p:sp>
        <p:nvSpPr>
          <p:cNvPr id="3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DA13B660-C1E5-44E7-9869-C2BE7BF5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设计步骤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CCEF124F-D2CD-4D77-8F45-AF47A575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从信息到形态</a:t>
            </a:r>
          </a:p>
        </p:txBody>
      </p:sp>
      <p:cxnSp>
        <p:nvCxnSpPr>
          <p:cNvPr id="26" name="line"/>
          <p:cNvCxnSpPr/>
          <p:nvPr/>
        </p:nvCxnSpPr>
        <p:spPr>
          <a:xfrm xmlns:a="http://schemas.openxmlformats.org/drawingml/2006/main">
            <a:off x="400050" y="838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1"/>
            </a:solidFill>
            <a:prstDash val="solid"/>
          </a:ln>
        </p:spPr>
      </p:cxnSp>
      <p:sp>
        <p:nvSpPr>
          <p:cNvPr id="6" name="step-num-0">
            <a:extLst xmlns:a="http://schemas.openxmlformats.org/drawingml/2006/main">
              <a:ext uri="{FF2B5EF4-FFF2-40B4-BE49-F238E27FC236}">
                <a16:creationId xmlns:a16="http://schemas.microsoft.com/office/drawing/2014/main" id="{F5B67151-9A87-4F0F-9E5A-645007F7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step-head-0">
            <a:extLst xmlns:a="http://schemas.openxmlformats.org/drawingml/2006/main">
              <a:ext uri="{FF2B5EF4-FFF2-40B4-BE49-F238E27FC236}">
                <a16:creationId xmlns:a16="http://schemas.microsoft.com/office/drawing/2014/main" id="{7F26A9B7-A6D4-4515-9385-DB7DFBF5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352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定义信息</a:t>
            </a:r>
          </a:p>
        </p:txBody>
      </p:sp>
      <p:sp>
        <p:nvSpPr>
          <p:cNvPr id="8" name="step-body-0">
            <a:extLst xmlns:a="http://schemas.openxmlformats.org/drawingml/2006/main">
              <a:ext uri="{FF2B5EF4-FFF2-40B4-BE49-F238E27FC236}">
                <a16:creationId xmlns:a16="http://schemas.microsoft.com/office/drawing/2014/main" id="{7AB8AF54-F978-4372-A44B-8B741BDC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716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先确定产品需要说明的动作、状态或风险。</a:t>
            </a:r>
          </a:p>
        </p:txBody>
      </p:sp>
      <p:cxnSp>
        <p:nvCxnSpPr>
          <p:cNvPr id="30" name="line"/>
          <p:cNvCxnSpPr/>
          <p:nvPr/>
        </p:nvCxnSpPr>
        <p:spPr>
          <a:xfrm xmlns:a="http://schemas.openxmlformats.org/drawingml/2006/main">
            <a:off x="1657350" y="2057400"/>
            <a:ext cx="9467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0"/>
            </a:solidFill>
            <a:prstDash val="solid"/>
          </a:ln>
        </p:spPr>
      </p:cxnSp>
      <p:sp>
        <p:nvSpPr>
          <p:cNvPr id="10" name="step-num-1">
            <a:extLst xmlns:a="http://schemas.openxmlformats.org/drawingml/2006/main">
              <a:ext uri="{FF2B5EF4-FFF2-40B4-BE49-F238E27FC236}">
                <a16:creationId xmlns:a16="http://schemas.microsoft.com/office/drawing/2014/main" id="{B9ABA9D9-BA13-4C25-8C1B-0D6C18F6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step-head-1">
            <a:extLst xmlns:a="http://schemas.openxmlformats.org/drawingml/2006/main">
              <a:ext uri="{FF2B5EF4-FFF2-40B4-BE49-F238E27FC236}">
                <a16:creationId xmlns:a16="http://schemas.microsoft.com/office/drawing/2014/main" id="{56CC810A-7A05-4D33-9547-05A13C5D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选择线索</a:t>
            </a:r>
          </a:p>
        </p:txBody>
      </p:sp>
      <p:sp>
        <p:nvSpPr>
          <p:cNvPr id="12" name="step-body-1">
            <a:extLst xmlns:a="http://schemas.openxmlformats.org/drawingml/2006/main">
              <a:ext uri="{FF2B5EF4-FFF2-40B4-BE49-F238E27FC236}">
                <a16:creationId xmlns:a16="http://schemas.microsoft.com/office/drawing/2014/main" id="{953593E9-DE6A-4060-A00D-6C98FA11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908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用轮廓、位置、材质和颜色表达这些信息。</a:t>
            </a:r>
          </a:p>
        </p:txBody>
      </p:sp>
      <p:cxnSp>
        <p:nvCxnSpPr>
          <p:cNvPr id="34" name="line"/>
          <p:cNvCxnSpPr/>
          <p:nvPr/>
        </p:nvCxnSpPr>
        <p:spPr>
          <a:xfrm xmlns:a="http://schemas.openxmlformats.org/drawingml/2006/main">
            <a:off x="1657350" y="3276600"/>
            <a:ext cx="9467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0"/>
            </a:solidFill>
            <a:prstDash val="solid"/>
          </a:ln>
        </p:spPr>
      </p:cxnSp>
      <p:sp>
        <p:nvSpPr>
          <p:cNvPr id="14" name="step-num-2">
            <a:extLst xmlns:a="http://schemas.openxmlformats.org/drawingml/2006/main">
              <a:ext uri="{FF2B5EF4-FFF2-40B4-BE49-F238E27FC236}">
                <a16:creationId xmlns:a16="http://schemas.microsoft.com/office/drawing/2014/main" id="{5A50DB1D-0DB9-4558-9C2B-AEE66B99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E66905F4-7762-4386-933E-3761401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制作样机</a:t>
            </a:r>
          </a:p>
        </p:txBody>
      </p:sp>
      <p:sp>
        <p:nvSpPr>
          <p:cNvPr id="1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A3E2611F-A956-4BA4-9BB8-1EF4C7EC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观察用户第一眼如何理解和操作。</a:t>
            </a:r>
          </a:p>
        </p:txBody>
      </p:sp>
      <p:cxnSp>
        <p:nvCxnSpPr>
          <p:cNvPr id="38" name="line"/>
          <p:cNvCxnSpPr/>
          <p:nvPr/>
        </p:nvCxnSpPr>
        <p:spPr>
          <a:xfrm xmlns:a="http://schemas.openxmlformats.org/drawingml/2006/main">
            <a:off x="1657350" y="4495800"/>
            <a:ext cx="9467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0"/>
            </a:solidFill>
            <a:prstDash val="solid"/>
          </a:ln>
        </p:spPr>
      </p:cxnSp>
      <p:sp>
        <p:nvSpPr>
          <p:cNvPr id="18" name="step-num-3">
            <a:extLst xmlns:a="http://schemas.openxmlformats.org/drawingml/2006/main">
              <a:ext uri="{FF2B5EF4-FFF2-40B4-BE49-F238E27FC236}">
                <a16:creationId xmlns:a16="http://schemas.microsoft.com/office/drawing/2014/main" id="{3180B977-05A5-4F5A-8A99-5B39BBFC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C7CC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step-head-3">
            <a:extLst xmlns:a="http://schemas.openxmlformats.org/drawingml/2006/main">
              <a:ext uri="{FF2B5EF4-FFF2-40B4-BE49-F238E27FC236}">
                <a16:creationId xmlns:a16="http://schemas.microsoft.com/office/drawing/2014/main" id="{C7760F8C-C51F-46F2-AFFA-CC11D883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10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去掉文字验证</a:t>
            </a:r>
          </a:p>
        </p:txBody>
      </p:sp>
      <p:sp>
        <p:nvSpPr>
          <p:cNvPr id="20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BFE16EB-7FCC-4019-979B-213F8044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隐藏标签，再检查功能是否仍然清楚。</a:t>
            </a:r>
          </a:p>
        </p:txBody>
      </p:sp>
      <p:sp>
        <p:nvSpPr>
          <p:cNvPr id="21" name="page-11">
            <a:extLst xmlns:a="http://schemas.openxmlformats.org/drawingml/2006/main">
              <a:ext uri="{FF2B5EF4-FFF2-40B4-BE49-F238E27FC236}">
                <a16:creationId xmlns:a16="http://schemas.microsoft.com/office/drawing/2014/main" id="{43A568A5-43B4-4EB6-9FAA-E85A1807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215217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18325351d44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nd-en">
            <a:extLst xmlns:a="http://schemas.openxmlformats.org/drawingml/2006/main">
              <a:ext uri="{FF2B5EF4-FFF2-40B4-BE49-F238E27FC236}">
                <a16:creationId xmlns:a16="http://schemas.microsoft.com/office/drawing/2014/main" id="{C02CC1E3-7FD2-43A0-B62E-8A51B252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CONCLUSION</a:t>
            </a:r>
          </a:p>
        </p:txBody>
      </p:sp>
      <p:sp>
        <p:nvSpPr>
          <p:cNvPr id="3" name="end-title">
            <a:extLst xmlns:a="http://schemas.openxmlformats.org/drawingml/2006/main">
              <a:ext uri="{FF2B5EF4-FFF2-40B4-BE49-F238E27FC236}">
                <a16:creationId xmlns:a16="http://schemas.microsoft.com/office/drawing/2014/main" id="{1AEF041D-666C-445A-BF7C-120139D7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4" name="end-num-0">
            <a:extLst xmlns:a="http://schemas.openxmlformats.org/drawingml/2006/main">
              <a:ext uri="{FF2B5EF4-FFF2-40B4-BE49-F238E27FC236}">
                <a16:creationId xmlns:a16="http://schemas.microsoft.com/office/drawing/2014/main" id="{60560D9C-6616-4B0A-A27E-2C4E3D01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end-text-0">
            <a:extLst xmlns:a="http://schemas.openxmlformats.org/drawingml/2006/main">
              <a:ext uri="{FF2B5EF4-FFF2-40B4-BE49-F238E27FC236}">
                <a16:creationId xmlns:a16="http://schemas.microsoft.com/office/drawing/2014/main" id="{46D0F902-9CE5-4D06-AB72-424553D6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479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形态首先说明哪里可以操作。</a:t>
            </a:r>
          </a:p>
        </p:txBody>
      </p:sp>
      <p:sp>
        <p:nvSpPr>
          <p:cNvPr id="6" name="end-num-1">
            <a:extLst xmlns:a="http://schemas.openxmlformats.org/drawingml/2006/main">
              <a:ext uri="{FF2B5EF4-FFF2-40B4-BE49-F238E27FC236}">
                <a16:creationId xmlns:a16="http://schemas.microsoft.com/office/drawing/2014/main" id="{330B7C30-020F-49E7-A3D9-D40772BB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end-text-1">
            <a:extLst xmlns:a="http://schemas.openxmlformats.org/drawingml/2006/main">
              <a:ext uri="{FF2B5EF4-FFF2-40B4-BE49-F238E27FC236}">
                <a16:creationId xmlns:a16="http://schemas.microsoft.com/office/drawing/2014/main" id="{4C034869-DF3A-489C-BE80-1BE35F2B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908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接触方式提示推、拉、握、转等动作。</a:t>
            </a:r>
          </a:p>
        </p:txBody>
      </p:sp>
      <p:sp>
        <p:nvSpPr>
          <p:cNvPr id="8" name="end-num-2">
            <a:extLst xmlns:a="http://schemas.openxmlformats.org/drawingml/2006/main">
              <a:ext uri="{FF2B5EF4-FFF2-40B4-BE49-F238E27FC236}">
                <a16:creationId xmlns:a16="http://schemas.microsoft.com/office/drawing/2014/main" id="{18AEE12A-A8B2-46C9-9BE4-782E6C8A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9" name="end-text-2">
            <a:extLst xmlns:a="http://schemas.openxmlformats.org/drawingml/2006/main">
              <a:ext uri="{FF2B5EF4-FFF2-40B4-BE49-F238E27FC236}">
                <a16:creationId xmlns:a16="http://schemas.microsoft.com/office/drawing/2014/main" id="{690DDC42-397E-4495-A5FE-06D918B8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338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控制方向应与结果变化保持一致。</a:t>
            </a:r>
          </a:p>
        </p:txBody>
      </p:sp>
      <p:sp>
        <p:nvSpPr>
          <p:cNvPr id="10" name="end-num-3">
            <a:extLst xmlns:a="http://schemas.openxmlformats.org/drawingml/2006/main">
              <a:ext uri="{FF2B5EF4-FFF2-40B4-BE49-F238E27FC236}">
                <a16:creationId xmlns:a16="http://schemas.microsoft.com/office/drawing/2014/main" id="{41704F83-7EA3-4DE7-B499-0D88D2E0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37A8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1" name="end-text-3">
            <a:extLst xmlns:a="http://schemas.openxmlformats.org/drawingml/2006/main">
              <a:ext uri="{FF2B5EF4-FFF2-40B4-BE49-F238E27FC236}">
                <a16:creationId xmlns:a16="http://schemas.microsoft.com/office/drawing/2014/main" id="{58B9B271-06DF-4F61-94C6-548C4AC6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03235"/>
                </a:solidFill>
                <a:latin typeface="微软雅黑"/>
                <a:ea typeface="微软雅黑"/>
                <a:cs typeface="微软雅黑"/>
              </a:rPr>
              <a:t>高风险信息需要更强的视觉和结构提示。</a:t>
            </a:r>
          </a:p>
        </p:txBody>
      </p:sp>
      <p:sp>
        <p:nvSpPr>
          <p:cNvPr id="12" name="end-course">
            <a:extLst xmlns:a="http://schemas.openxmlformats.org/drawingml/2006/main">
              <a:ext uri="{FF2B5EF4-FFF2-40B4-BE49-F238E27FC236}">
                <a16:creationId xmlns:a16="http://schemas.microsoft.com/office/drawing/2014/main" id="{F7C3FFB3-F326-4254-8728-168A5F50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产品形态语义设计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841274a264758"/>
          <a:stretch xmlns:a="http://schemas.openxmlformats.org/drawingml/2006/main"/>
        </p:blipFill>
        <p:spPr>
          <a:xfrm xmlns:a="http://schemas.openxmlformats.org/drawingml/2006/main">
            <a:off x="7239000" y="773376"/>
            <a:ext cx="4762500" cy="5444597"/>
          </a:xfrm>
          <a:prstGeom xmlns:a="http://schemas.openxmlformats.org/drawingml/2006/main" prst="rect">
            <a:avLst/>
          </a:prstGeom>
        </p:spPr>
      </p:pic>
      <p:sp>
        <p:nvSpPr>
          <p:cNvPr id="14" name="page-12">
            <a:extLst xmlns:a="http://schemas.openxmlformats.org/drawingml/2006/main">
              <a:ext uri="{FF2B5EF4-FFF2-40B4-BE49-F238E27FC236}">
                <a16:creationId xmlns:a16="http://schemas.microsoft.com/office/drawing/2014/main" id="{C1DEDD9B-EB33-4C7B-95A5-595150FF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0676E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20462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2026-09-06T06:31:17.8080000Z</dcterms:created>
  <dcterms:modified xsi:type="dcterms:W3CDTF">2026-09-06T06:31:17.8090000Z</dcterms:modified>
</coreProperties>
</file>